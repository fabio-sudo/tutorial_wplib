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9405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12402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8962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7779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024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6613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799241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070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1915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617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1512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4968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9269686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32648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8025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4782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901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5503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68419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61573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82188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4372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9406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252281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7518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30417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3329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8813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964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  <p:sldLayoutId id="2147483739" r:id="rId24"/>
    <p:sldLayoutId id="2147483740" r:id="rId25"/>
    <p:sldLayoutId id="2147483741" r:id="rId26"/>
    <p:sldLayoutId id="2147483742" r:id="rId27"/>
    <p:sldLayoutId id="2147483743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C7F8F8-A586-75E2-F47B-7BC18A0C1C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9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0D6CDE-EDF9-D7B4-18D2-E70E33F94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1" y="5728447"/>
            <a:ext cx="8201790" cy="960120"/>
          </a:xfrm>
          <a:ln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pt-BR" sz="3400" dirty="0"/>
              <a:t>Preparar o </a:t>
            </a:r>
            <a:r>
              <a:rPr lang="pt-BR" sz="3400" dirty="0" err="1"/>
              <a:t>timestamp</a:t>
            </a:r>
            <a:r>
              <a:rPr lang="pt-BR" sz="3400" dirty="0"/>
              <a:t> do MegaTag2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713518-BDDE-9636-2AB4-751DC708C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7819" y="5728445"/>
            <a:ext cx="3409110" cy="950410"/>
          </a:xfrm>
        </p:spPr>
        <p:txBody>
          <a:bodyPr anchor="ctr">
            <a:normAutofit/>
          </a:bodyPr>
          <a:lstStyle/>
          <a:p>
            <a:pPr algn="r"/>
            <a:endParaRPr lang="pt-BR" sz="1900"/>
          </a:p>
        </p:txBody>
      </p:sp>
    </p:spTree>
    <p:extLst>
      <p:ext uri="{BB962C8B-B14F-4D97-AF65-F5344CB8AC3E}">
        <p14:creationId xmlns:p14="http://schemas.microsoft.com/office/powerpoint/2010/main" val="1420814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F4F5D92-BD94-5149-95BC-EBD93AC0B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10703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281A8BD-0298-B0D8-F925-11BCBD0374F2}"/>
              </a:ext>
            </a:extLst>
          </p:cNvPr>
          <p:cNvSpPr txBox="1"/>
          <p:nvPr/>
        </p:nvSpPr>
        <p:spPr>
          <a:xfrm>
            <a:off x="5953760" y="1565100"/>
            <a:ext cx="6096000" cy="409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MEGATAG2 - TIMESTAMP DA MEDIÇÃO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Registra o instante estimado de captura da medição.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Será utilizado para compensar a latência da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quando ativarmos a fusão com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0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AF854-22B1-E0E0-AC98-7ADC31C8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1396999"/>
            <a:ext cx="2786388" cy="2032001"/>
          </a:xfrm>
        </p:spPr>
        <p:txBody>
          <a:bodyPr>
            <a:normAutofit/>
          </a:bodyPr>
          <a:lstStyle/>
          <a:p>
            <a:r>
              <a:rPr lang="pt-BR" sz="2800" dirty="0"/>
              <a:t>Faça dois testes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9776D4-98D4-ECF0-C21D-43C8A9C7C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0408" y="1483360"/>
            <a:ext cx="7013171" cy="443009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pt-BR" sz="1900"/>
              <a:t>Com as AprilTags visíveis, observe se TimestampSeconds apresenta valores finitos e positivos.</a:t>
            </a:r>
          </a:p>
          <a:p>
            <a:pPr>
              <a:lnSpc>
                <a:spcPct val="110000"/>
              </a:lnSpc>
            </a:pPr>
            <a:endParaRPr lang="pt-BR" sz="1900"/>
          </a:p>
          <a:p>
            <a:pPr>
              <a:lnSpc>
                <a:spcPct val="110000"/>
              </a:lnSpc>
            </a:pPr>
            <a:r>
              <a:rPr lang="pt-BR" sz="1900"/>
              <a:t>Esconda as AprilTags e verifique se Valid muda para false e TagCount para 0.</a:t>
            </a:r>
          </a:p>
          <a:p>
            <a:pPr>
              <a:lnSpc>
                <a:spcPct val="110000"/>
              </a:lnSpc>
            </a:pPr>
            <a:endParaRPr lang="pt-BR" sz="1900"/>
          </a:p>
          <a:p>
            <a:pPr>
              <a:lnSpc>
                <a:spcPct val="110000"/>
              </a:lnSpc>
            </a:pPr>
            <a:r>
              <a:rPr lang="pt-BR" sz="1900"/>
              <a:t>Detalhe importante: o timestamp estimado pelo LimelightHelpers não deve ser tratado automaticamente como um identificador único de imagem. Na próxima alteração, verificaremos a chegada de novos resultados pela NetworkTables, evitando reaproveitar uma captura antiga.</a:t>
            </a:r>
          </a:p>
        </p:txBody>
      </p:sp>
    </p:spTree>
    <p:extLst>
      <p:ext uri="{BB962C8B-B14F-4D97-AF65-F5344CB8AC3E}">
        <p14:creationId xmlns:p14="http://schemas.microsoft.com/office/powerpoint/2010/main" val="248887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4BE86D7-C1E6-EDA8-F4D0-73D585EAAF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37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55D2B-3270-5DE8-EA44-BC36525E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Controle de novas medições</a:t>
            </a:r>
          </a:p>
        </p:txBody>
      </p:sp>
    </p:spTree>
    <p:extLst>
      <p:ext uri="{BB962C8B-B14F-4D97-AF65-F5344CB8AC3E}">
        <p14:creationId xmlns:p14="http://schemas.microsoft.com/office/powerpoint/2010/main" val="45512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90F28A4-2262-BC4E-A2DB-2859AAF7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8252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F2F0A9D-E123-6C23-727D-943E5C17183A}"/>
              </a:ext>
            </a:extLst>
          </p:cNvPr>
          <p:cNvSpPr txBox="1"/>
          <p:nvPr/>
        </p:nvSpPr>
        <p:spPr>
          <a:xfrm>
            <a:off x="7569120" y="2630438"/>
            <a:ext cx="4663480" cy="209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CONTROLE DE NOVAS MEDIÇÕES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Guarda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 última medição válida observada.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Impede processar duas vezes o mesmo resultado.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lastMegaTag2TimestampSeconds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329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25C7E25-E3F8-6EC2-E204-8BFA2D836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F364025-540D-0815-A9AF-38B78404F822}"/>
              </a:ext>
            </a:extLst>
          </p:cNvPr>
          <p:cNvSpPr txBox="1"/>
          <p:nvPr/>
        </p:nvSpPr>
        <p:spPr>
          <a:xfrm>
            <a:off x="6482080" y="557829"/>
            <a:ext cx="5598160" cy="5742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SE CHEGOU UMA NOVA MEDIÇÃO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newMegaTag2Measurement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megaTag2Valid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lastMegaTag2TimestampSeconds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somente quando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avançou.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newMegaTag2Measurement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lastMegaTag2TimestampSeconds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</p:txBody>
      </p:sp>
    </p:spTree>
    <p:extLst>
      <p:ext uri="{BB962C8B-B14F-4D97-AF65-F5344CB8AC3E}">
        <p14:creationId xmlns:p14="http://schemas.microsoft.com/office/powerpoint/2010/main" val="2666041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9CD8FD2-6609-1E79-4751-79C03039F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474372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4DC4208-6203-FA2A-2D6E-957C3FC46FD1}"/>
              </a:ext>
            </a:extLst>
          </p:cNvPr>
          <p:cNvSpPr txBox="1"/>
          <p:nvPr/>
        </p:nvSpPr>
        <p:spPr>
          <a:xfrm>
            <a:off x="6187440" y="1744821"/>
            <a:ext cx="4937760" cy="336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RotationDegrees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getDegrees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NewMeasurement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newMegaTag2Measurement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7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4F83548-AFA7-434E-7146-39B960492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901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A40FD-BD27-9318-1E6F-5300B439A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Atualização no Drive.java</a:t>
            </a:r>
          </a:p>
        </p:txBody>
      </p:sp>
    </p:spTree>
    <p:extLst>
      <p:ext uri="{BB962C8B-B14F-4D97-AF65-F5344CB8AC3E}">
        <p14:creationId xmlns:p14="http://schemas.microsoft.com/office/powerpoint/2010/main" val="3419772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6D38E05-E0DE-8077-97FD-2E9BBBCD2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1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CEC66AF-8928-6803-5945-E41DAC4BFF44}"/>
              </a:ext>
            </a:extLst>
          </p:cNvPr>
          <p:cNvSpPr txBox="1"/>
          <p:nvPr/>
        </p:nvSpPr>
        <p:spPr>
          <a:xfrm>
            <a:off x="111760" y="1105671"/>
            <a:ext cx="6096000" cy="4646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SINCRONIZAÇÃO INICIAL DA POSE COM A VISÃO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Utilizado apenas em uma inicialização controlada.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X e Y vêm do MegaTag2.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orientação continua vindo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NÃO executar continuamente no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periodic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().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seedPoseFromVision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Proteção dos dados recebidos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getX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1EDF65-D6F9-D861-3B7F-FF37672E42AB}"/>
              </a:ext>
            </a:extLst>
          </p:cNvPr>
          <p:cNvSpPr txBox="1"/>
          <p:nvPr/>
        </p:nvSpPr>
        <p:spPr>
          <a:xfrm>
            <a:off x="6096000" y="101293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Mantém a orientação atual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Pigeon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Rotation2d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isFinite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getRadians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())) {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Combina coordenadas absolutas com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gyro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initialFieldPose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visionPose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getTranslation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heading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Sincroniza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PoseEstimator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resetPosition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heading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getModulePositions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initialFieldPose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a pose utilizada pelo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poseEstimator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getEstimatedPosition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"Drive/Vision/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SeedPose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510610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5496E35-BEB7-5C05-4801-26DF7F91A171}"/>
              </a:ext>
            </a:extLst>
          </p:cNvPr>
          <p:cNvGraphicFramePr>
            <a:graphicFrameLocks noGrp="1"/>
          </p:cNvGraphicFramePr>
          <p:nvPr/>
        </p:nvGraphicFramePr>
        <p:xfrm>
          <a:off x="301625" y="2884646"/>
          <a:ext cx="11604624" cy="2560320"/>
        </p:xfrm>
        <a:graphic>
          <a:graphicData uri="http://schemas.openxmlformats.org/drawingml/2006/table">
            <a:tbl>
              <a:tblPr/>
              <a:tblGrid>
                <a:gridCol w="5802312">
                  <a:extLst>
                    <a:ext uri="{9D8B030D-6E8A-4147-A177-3AD203B41FA5}">
                      <a16:colId xmlns:a16="http://schemas.microsoft.com/office/drawing/2014/main" val="1565325124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165436521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Implementação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Situação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6400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latin typeface="Courier New" panose="02070309020205020404" pitchFamily="49" charset="0"/>
                        </a:rPr>
                        <a:t>SwerveDrivePoseEstimator</a:t>
                      </a:r>
                      <a:endParaRPr lang="pt-BR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Correto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7440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latin typeface="Courier New" panose="02070309020205020404" pitchFamily="49" charset="0"/>
                        </a:rPr>
                        <a:t>poseEstimator.update()</a:t>
                      </a:r>
                      <a:endParaRPr lang="pt-BR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Correto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5452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latin typeface="Courier New" panose="02070309020205020404" pitchFamily="49" charset="0"/>
                        </a:rPr>
                        <a:t>zeroHeading()</a:t>
                      </a:r>
                      <a:endParaRPr lang="pt-BR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Correto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575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latin typeface="Courier New" panose="02070309020205020404" pitchFamily="49" charset="0"/>
                        </a:rPr>
                        <a:t>seedPoseFromVision()</a:t>
                      </a:r>
                      <a:endParaRPr lang="pt-BR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Correto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938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latin typeface="Courier New" panose="02070309020205020404" pitchFamily="49" charset="0"/>
                        </a:rPr>
                        <a:t>addVisionMeasurement()</a:t>
                      </a:r>
                      <a:endParaRPr lang="pt-BR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Correto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22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>
                          <a:latin typeface="Courier New" panose="02070309020205020404" pitchFamily="49" charset="0"/>
                        </a:rPr>
                        <a:t>VecBuilder.fill(0.70, 0.70, 9999999.0)</a:t>
                      </a:r>
                      <a:endParaRPr lang="pt-BR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Correto como configuração inicial de teste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782489"/>
                  </a:ext>
                </a:extLst>
              </a:tr>
            </a:tbl>
          </a:graphicData>
        </a:graphic>
      </p:graphicFrame>
      <p:sp>
        <p:nvSpPr>
          <p:cNvPr id="6" name="Título 5">
            <a:extLst>
              <a:ext uri="{FF2B5EF4-FFF2-40B4-BE49-F238E27FC236}">
                <a16:creationId xmlns:a16="http://schemas.microsoft.com/office/drawing/2014/main" id="{961A35D3-730E-0233-5372-327FAE08A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MegaTag2 já está preparada.</a:t>
            </a:r>
          </a:p>
        </p:txBody>
      </p:sp>
    </p:spTree>
    <p:extLst>
      <p:ext uri="{BB962C8B-B14F-4D97-AF65-F5344CB8AC3E}">
        <p14:creationId xmlns:p14="http://schemas.microsoft.com/office/powerpoint/2010/main" val="1874520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1698A-7234-0D68-12DC-E206F82F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Próxima etapa — Vision.java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183A89-5441-EF0F-7547-542172557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099" y="3114153"/>
            <a:ext cx="4667901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76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1E7A28C-3093-42AF-5F34-4078A3883F69}"/>
              </a:ext>
            </a:extLst>
          </p:cNvPr>
          <p:cNvSpPr txBox="1"/>
          <p:nvPr/>
        </p:nvSpPr>
        <p:spPr>
          <a:xfrm>
            <a:off x="7152640" y="101294"/>
            <a:ext cx="503936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IMPORTS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littletonrobotics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junction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wpilibj2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SubsystemBase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LimelightHelpers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Constants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LimelightConstants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frc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robot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subsystems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geometry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wpilibj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Vision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SubsystemBase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DRIVE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POSE INICIAL - MEGATAG2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Pose2d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visionValidNow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CAA0121-C07A-D0BF-5F39-9F6A2C9D0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6649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01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ED452-A91B-C906-6ADD-622511808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 </a:t>
            </a:r>
            <a:r>
              <a:rPr lang="pt-BR" dirty="0" err="1"/>
              <a:t>periodic</a:t>
            </a:r>
            <a:r>
              <a:rPr lang="pt-BR" dirty="0"/>
              <a:t>()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FC301E-0661-59B7-E939-77DED371A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939" y="0"/>
            <a:ext cx="79850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9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7D13381-4359-735A-1D82-61198D4F8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51396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B8A2392-399B-27B6-C6C0-3ADCAA1EF78A}"/>
              </a:ext>
            </a:extLst>
          </p:cNvPr>
          <p:cNvSpPr txBox="1"/>
          <p:nvPr/>
        </p:nvSpPr>
        <p:spPr>
          <a:xfrm>
            <a:off x="6370320" y="1514566"/>
            <a:ext cx="5618480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  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ARMAZENA A ÚLTIMA MEDIÇÃO VÁLIDA E RECENTE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Estado atual da visão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visionValidNow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megaTag2Valid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Guarda somente uma nova captura válida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newMegaTag2Measurement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megaTag2Estimate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Horário local em que recebemos essa captura.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Não substitui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da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Limelight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para a futura fusão.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getFPGATimestamp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281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BA5EF-22F0-9CFB-618F-826BC2FDD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Realizar Testes</a:t>
            </a:r>
          </a:p>
        </p:txBody>
      </p:sp>
    </p:spTree>
    <p:extLst>
      <p:ext uri="{BB962C8B-B14F-4D97-AF65-F5344CB8AC3E}">
        <p14:creationId xmlns:p14="http://schemas.microsoft.com/office/powerpoint/2010/main" val="3357692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9ACECE5-32E4-927C-09C6-D9F2C3D99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CBD0804-ED98-5787-5646-F9534766BDB4}"/>
              </a:ext>
            </a:extLst>
          </p:cNvPr>
          <p:cNvSpPr txBox="1"/>
          <p:nvPr/>
        </p:nvSpPr>
        <p:spPr>
          <a:xfrm>
            <a:off x="6299200" y="101294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	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TESTE - PRONTIDÃO PARA SINCRONIZAÇÃO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Tempo decorrido desde a última captura válida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?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getFPGATimestamp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pt-BR" sz="105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Verifica se a medição está pronta para inicialização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seedReady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visionValidNow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latestValidVisionPose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lastValidFrameTime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LOGS - ADVANTAGEKIT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FrameAgeSeconds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frameAgeSeconds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Logger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recordOutput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"Vision/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Rear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/MegaTag2/</a:t>
            </a:r>
            <a:r>
              <a:rPr lang="pt-BR" sz="105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SeedReady</a:t>
            </a:r>
            <a:r>
              <a:rPr lang="pt-BR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seedReady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1332683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0CEEE730-1982-7CFC-8CBC-11854C4D4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081022"/>
              </p:ext>
            </p:extLst>
          </p:nvPr>
        </p:nvGraphicFramePr>
        <p:xfrm>
          <a:off x="407779" y="870338"/>
          <a:ext cx="11604624" cy="29260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802312">
                  <a:extLst>
                    <a:ext uri="{9D8B030D-6E8A-4147-A177-3AD203B41FA5}">
                      <a16:colId xmlns:a16="http://schemas.microsoft.com/office/drawing/2014/main" val="228664171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201614191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Indicador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Resultado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19441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4902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NewMeasurement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39339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SeedReady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22172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 err="1"/>
                        <a:t>TagCount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5427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FrameAgeSeconds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≈ 0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09179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Distância 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1,889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8227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MegaTag2 X/Y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2,007 / 4,370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22760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3A57BAD0-89F6-CB6D-F43E-09BD9A8AB788}"/>
              </a:ext>
            </a:extLst>
          </p:cNvPr>
          <p:cNvSpPr txBox="1"/>
          <p:nvPr/>
        </p:nvSpPr>
        <p:spPr>
          <a:xfrm>
            <a:off x="254000" y="399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/>
              <a:t>Teste 1 — AprilTags visíveis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5589825-7444-0854-E4BF-6191B505B6C9}"/>
              </a:ext>
            </a:extLst>
          </p:cNvPr>
          <p:cNvSpPr txBox="1"/>
          <p:nvPr/>
        </p:nvSpPr>
        <p:spPr>
          <a:xfrm>
            <a:off x="407779" y="41198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Teste 2 — Sem </a:t>
            </a:r>
            <a:r>
              <a:rPr lang="pt-BR" dirty="0" err="1"/>
              <a:t>AprilTags</a:t>
            </a:r>
            <a:endParaRPr lang="pt-BR" dirty="0"/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36729221-25BA-2E38-B7B5-4960F814C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402964"/>
              </p:ext>
            </p:extLst>
          </p:nvPr>
        </p:nvGraphicFramePr>
        <p:xfrm>
          <a:off x="407779" y="4489148"/>
          <a:ext cx="11604624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802312">
                  <a:extLst>
                    <a:ext uri="{9D8B030D-6E8A-4147-A177-3AD203B41FA5}">
                      <a16:colId xmlns:a16="http://schemas.microsoft.com/office/drawing/2014/main" val="12179182"/>
                    </a:ext>
                  </a:extLst>
                </a:gridCol>
                <a:gridCol w="5802312">
                  <a:extLst>
                    <a:ext uri="{9D8B030D-6E8A-4147-A177-3AD203B41FA5}">
                      <a16:colId xmlns:a16="http://schemas.microsoft.com/office/drawing/2014/main" val="350647986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Indicador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Resultado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27285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17634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NewMeasurement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35143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SeedReady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7301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TagCount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3630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FrameAgeSeconds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17,941 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300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1905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8D355E8-1477-84A4-6249-1F212DAD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72"/>
            <a:ext cx="12192000" cy="678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787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e Escuro">
  <a:themeElements>
    <a:clrScheme name="Gradiente Escuro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117</TotalTime>
  <Words>1055</Words>
  <Application>Microsoft Office PowerPoint</Application>
  <PresentationFormat>Widescreen</PresentationFormat>
  <Paragraphs>254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Aptos</vt:lpstr>
      <vt:lpstr>Arial</vt:lpstr>
      <vt:lpstr>Arial Nova Light</vt:lpstr>
      <vt:lpstr>Consolas</vt:lpstr>
      <vt:lpstr>Courier New</vt:lpstr>
      <vt:lpstr>Gradiente Escuro</vt:lpstr>
      <vt:lpstr>Preparar o timestamp do MegaTag2</vt:lpstr>
      <vt:lpstr>Apresentação do PowerPoint</vt:lpstr>
      <vt:lpstr>Faça dois testes</vt:lpstr>
      <vt:lpstr>Apresentação do PowerPoint</vt:lpstr>
      <vt:lpstr>Controle de novas medições</vt:lpstr>
      <vt:lpstr>Apresentação do PowerPoint</vt:lpstr>
      <vt:lpstr>Apresentação do PowerPoint</vt:lpstr>
      <vt:lpstr>Apresentação do PowerPoint</vt:lpstr>
      <vt:lpstr>Apresentação do PowerPoint</vt:lpstr>
      <vt:lpstr>Atualização no Drive.java</vt:lpstr>
      <vt:lpstr>Apresentação do PowerPoint</vt:lpstr>
      <vt:lpstr>Apresentação do PowerPoint</vt:lpstr>
      <vt:lpstr>MegaTag2 já está preparada.</vt:lpstr>
      <vt:lpstr>Próxima etapa — Vision.java</vt:lpstr>
      <vt:lpstr>Apresentação do PowerPoint</vt:lpstr>
      <vt:lpstr>No periodic()</vt:lpstr>
      <vt:lpstr>Apresentação do PowerPoint</vt:lpstr>
      <vt:lpstr>Realizar Testes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17</cp:revision>
  <dcterms:created xsi:type="dcterms:W3CDTF">2026-10-01T15:54:17Z</dcterms:created>
  <dcterms:modified xsi:type="dcterms:W3CDTF">2026-10-01T17:52:16Z</dcterms:modified>
</cp:coreProperties>
</file>