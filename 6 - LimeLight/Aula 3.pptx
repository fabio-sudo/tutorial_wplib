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1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6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9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4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1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2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5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9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1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2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1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2274B4-B001-4088-B01D-E6999509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8EC9F4-251F-5202-F000-3853EB9DF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3901736" cy="3130807"/>
          </a:xfrm>
        </p:spPr>
        <p:txBody>
          <a:bodyPr>
            <a:normAutofit/>
          </a:bodyPr>
          <a:lstStyle/>
          <a:p>
            <a:r>
              <a:rPr lang="pt-BR" dirty="0"/>
              <a:t>Vision.java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BEE2FB-9499-1927-7469-A13E73370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3901736" cy="2240529"/>
          </a:xfrm>
        </p:spPr>
        <p:txBody>
          <a:bodyPr>
            <a:normAutofit/>
          </a:bodyPr>
          <a:lstStyle/>
          <a:p>
            <a:r>
              <a:rPr lang="pt-BR" dirty="0"/>
              <a:t>Vamos dar acesso ao nosso drive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949D8-19BF-C1B1-E2F9-F60E6289C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7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251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AC4AADA-637E-46A0-4214-D071B5ED41CD}"/>
              </a:ext>
            </a:extLst>
          </p:cNvPr>
          <p:cNvSpPr txBox="1"/>
          <p:nvPr/>
        </p:nvSpPr>
        <p:spPr>
          <a:xfrm>
            <a:off x="6789683" y="3268717"/>
            <a:ext cx="4894317" cy="321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E0B06F-42D3-E174-94B0-060CF1F0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50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7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9A79CF-1C12-B430-50BF-BF0DE6ED6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0554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5223F44-DBA6-1CA9-438E-6353589F342B}"/>
              </a:ext>
            </a:extLst>
          </p:cNvPr>
          <p:cNvSpPr txBox="1"/>
          <p:nvPr/>
        </p:nvSpPr>
        <p:spPr>
          <a:xfrm>
            <a:off x="7548880" y="2549556"/>
            <a:ext cx="4226560" cy="263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SubsystemBase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85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D82555-BA69-1720-ED24-8710339C1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" y="0"/>
            <a:ext cx="781878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F178176-5AFE-85B1-03CF-C2E1EB3D6994}"/>
              </a:ext>
            </a:extLst>
          </p:cNvPr>
          <p:cNvSpPr txBox="1"/>
          <p:nvPr/>
        </p:nvSpPr>
        <p:spPr>
          <a:xfrm>
            <a:off x="7839804" y="3023119"/>
            <a:ext cx="4352196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//===========================================DRIVE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3606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574FF32-7DB0-372B-61DA-E200E8A57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57545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2BC5251-EFAE-6176-ECFE-55B9B71DA93C}"/>
              </a:ext>
            </a:extLst>
          </p:cNvPr>
          <p:cNvSpPr/>
          <p:nvPr/>
        </p:nvSpPr>
        <p:spPr>
          <a:xfrm>
            <a:off x="1965434" y="2144110"/>
            <a:ext cx="987973" cy="8618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CED301-61E4-18E9-4FDE-9C406495FEC4}"/>
              </a:ext>
            </a:extLst>
          </p:cNvPr>
          <p:cNvSpPr txBox="1"/>
          <p:nvPr/>
        </p:nvSpPr>
        <p:spPr>
          <a:xfrm>
            <a:off x="6918960" y="2575034"/>
            <a:ext cx="5273040" cy="1907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LIMELIGHT VISION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32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C6042-7B14-B0F6-522B-CBABBBEECE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Vision.java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7075FF-3F01-1447-DF23-7614CB96C0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33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4380B2-B6B8-3144-6457-E0CC794E7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2302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7ED9A50-2B2E-83D8-B59C-0AF09DD6CC01}"/>
              </a:ext>
            </a:extLst>
          </p:cNvPr>
          <p:cNvSpPr txBox="1"/>
          <p:nvPr/>
        </p:nvSpPr>
        <p:spPr>
          <a:xfrm>
            <a:off x="6958704" y="2127048"/>
            <a:ext cx="5233296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ORIENTAÇÃO DO ROBÔ - PIGEON 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robotYawDegrees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getDegrees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62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E93E545-8F28-199C-358A-F8ECB793E863}"/>
              </a:ext>
            </a:extLst>
          </p:cNvPr>
          <p:cNvSpPr txBox="1"/>
          <p:nvPr/>
        </p:nvSpPr>
        <p:spPr>
          <a:xfrm>
            <a:off x="316319" y="1196978"/>
            <a:ext cx="6097772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RobotYawDegrees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robotYawDegrees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HasTarget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hasTarget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/TX"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E8A217-5551-033F-2187-D163E8F2BF06}"/>
              </a:ext>
            </a:extLst>
          </p:cNvPr>
          <p:cNvSpPr txBox="1"/>
          <p:nvPr/>
        </p:nvSpPr>
        <p:spPr>
          <a:xfrm>
            <a:off x="8006316" y="1562207"/>
            <a:ext cx="4106825" cy="409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/TY"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/TA"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TagID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07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6C7B24B-DAC1-C95F-6B1F-45763F4F8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14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95200-2B30-2EBE-0572-3CF75749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Estamos conectados e recebendo os valores da </a:t>
            </a:r>
            <a:r>
              <a:rPr lang="pt-BR" dirty="0" err="1"/>
              <a:t>limelight</a:t>
            </a:r>
            <a:r>
              <a:rPr lang="pt-BR" dirty="0"/>
              <a:t>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482846-D1C6-E394-3E83-80898DBD5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t-BR" dirty="0"/>
              <a:t>Ou seja, você praticamente girou fisicamente o robô </a:t>
            </a:r>
            <a:r>
              <a:rPr lang="pt-BR" b="1" dirty="0"/>
              <a:t>180°</a:t>
            </a:r>
            <a:r>
              <a:rPr lang="pt-BR" dirty="0"/>
              <a:t>, e o </a:t>
            </a:r>
            <a:r>
              <a:rPr lang="pt-BR" dirty="0" err="1"/>
              <a:t>Pigeon</a:t>
            </a:r>
            <a:r>
              <a:rPr lang="pt-BR" dirty="0"/>
              <a:t> registrou </a:t>
            </a:r>
            <a:r>
              <a:rPr lang="pt-BR" b="1" dirty="0"/>
              <a:t>178,25°</a:t>
            </a:r>
            <a:r>
              <a:rPr lang="pt-BR" dirty="0"/>
              <a:t>. Isso está totalmente coerente para um teste manual.</a:t>
            </a:r>
          </a:p>
          <a:p>
            <a:pPr>
              <a:buNone/>
            </a:pPr>
            <a:r>
              <a:rPr lang="pt-BR" dirty="0"/>
              <a:t>O </a:t>
            </a:r>
            <a:r>
              <a:rPr lang="pt-BR" dirty="0" err="1">
                <a:latin typeface="Courier New" panose="02070309020205020404" pitchFamily="49" charset="0"/>
              </a:rPr>
              <a:t>HasTarget</a:t>
            </a:r>
            <a:r>
              <a:rPr lang="pt-BR" dirty="0">
                <a:latin typeface="Courier New" panose="02070309020205020404" pitchFamily="49" charset="0"/>
              </a:rPr>
              <a:t> = false</a:t>
            </a:r>
            <a:r>
              <a:rPr lang="pt-BR" dirty="0"/>
              <a:t> também faz sentido: como sua </a:t>
            </a:r>
            <a:r>
              <a:rPr lang="pt-BR" dirty="0" err="1"/>
              <a:t>Limelight</a:t>
            </a:r>
            <a:r>
              <a:rPr lang="pt-BR" dirty="0"/>
              <a:t> está </a:t>
            </a:r>
            <a:r>
              <a:rPr lang="pt-BR" b="1" dirty="0"/>
              <a:t>na traseira</a:t>
            </a:r>
            <a:r>
              <a:rPr lang="pt-BR" dirty="0"/>
              <a:t>, ao girar quase 180° ela deixou de enxergar aquela </a:t>
            </a:r>
            <a:r>
              <a:rPr lang="pt-BR" dirty="0" err="1"/>
              <a:t>AprilTag</a:t>
            </a:r>
            <a:r>
              <a:rPr lang="pt-BR" dirty="0"/>
              <a:t>. Quando não existe alvo, aparecer:</a:t>
            </a:r>
          </a:p>
          <a:p>
            <a:r>
              <a:rPr lang="pt-BR" dirty="0" err="1"/>
              <a:t>RobotYawDegrees</a:t>
            </a:r>
            <a:r>
              <a:rPr lang="pt-BR" dirty="0"/>
              <a:t> ≈ -2.66°</a:t>
            </a:r>
          </a:p>
          <a:p>
            <a:r>
              <a:rPr lang="pt-BR" dirty="0" err="1"/>
              <a:t>HasTarget</a:t>
            </a:r>
            <a:r>
              <a:rPr lang="pt-BR" dirty="0"/>
              <a:t>       = </a:t>
            </a:r>
            <a:r>
              <a:rPr lang="pt-BR" dirty="0" err="1"/>
              <a:t>true</a:t>
            </a:r>
            <a:endParaRPr lang="pt-BR" dirty="0"/>
          </a:p>
          <a:p>
            <a:r>
              <a:rPr lang="pt-BR" dirty="0" err="1"/>
              <a:t>TagID</a:t>
            </a:r>
            <a:r>
              <a:rPr lang="pt-BR" dirty="0"/>
              <a:t>           = 26</a:t>
            </a:r>
          </a:p>
          <a:p>
            <a:r>
              <a:rPr lang="pt-BR" dirty="0"/>
              <a:t>TX              ≈ 21.28°</a:t>
            </a:r>
          </a:p>
          <a:p>
            <a:r>
              <a:rPr lang="pt-BR" dirty="0"/>
              <a:t>TY              ≈ 20.67°</a:t>
            </a:r>
          </a:p>
          <a:p>
            <a:r>
              <a:rPr lang="pt-BR" dirty="0"/>
              <a:t>TA              ≈ 0.556%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115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89AF6-1F93-B356-5FEE-C44186EA6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Enviar esse </a:t>
            </a:r>
            <a:r>
              <a:rPr lang="pt-BR" b="1" dirty="0" err="1"/>
              <a:t>yaw</a:t>
            </a:r>
            <a:r>
              <a:rPr lang="pt-BR" b="1" dirty="0"/>
              <a:t> para a </a:t>
            </a:r>
            <a:r>
              <a:rPr lang="pt-BR" b="1" dirty="0" err="1"/>
              <a:t>Limelight</a:t>
            </a:r>
            <a:r>
              <a:rPr lang="pt-BR" dirty="0"/>
              <a:t>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37C04-C5C3-89A3-7342-3A0290AE3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5823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A52161-8C7C-40DB-2727-C8E54837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49224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22169B3-782F-A006-A5F8-7A6E2D51B503}"/>
              </a:ext>
            </a:extLst>
          </p:cNvPr>
          <p:cNvSpPr txBox="1"/>
          <p:nvPr/>
        </p:nvSpPr>
        <p:spPr>
          <a:xfrm>
            <a:off x="5831840" y="2009247"/>
            <a:ext cx="6096000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A ORIENTAÇÃO DO ROBÔ PARA A LIMELIGHT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SetRobotOrientation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robotYawDegrees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2457754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09B932-0D2B-6EBA-A35D-23B6D149B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1600"/>
            <a:ext cx="10972800" cy="6041138"/>
          </a:xfrm>
        </p:spPr>
        <p:txBody>
          <a:bodyPr>
            <a:normAutofit fontScale="77500" lnSpcReduction="20000"/>
          </a:bodyPr>
          <a:lstStyle/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1. Robô parado olhando para a </a:t>
            </a:r>
            <a:r>
              <a:rPr lang="pt-BR" b="1" dirty="0" err="1">
                <a:latin typeface="Courier New" panose="02070309020205020404" pitchFamily="49" charset="0"/>
              </a:rPr>
              <a:t>tag</a:t>
            </a:r>
            <a:endParaRPr lang="pt-BR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RobotYawDegrees</a:t>
            </a:r>
            <a:r>
              <a:rPr lang="pt-BR" b="1" dirty="0">
                <a:latin typeface="Courier New" panose="02070309020205020404" pitchFamily="49" charset="0"/>
              </a:rPr>
              <a:t> estável</a:t>
            </a: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HasTarget</a:t>
            </a:r>
            <a:r>
              <a:rPr lang="pt-BR" b="1" dirty="0">
                <a:latin typeface="Courier New" panose="02070309020205020404" pitchFamily="49" charset="0"/>
              </a:rPr>
              <a:t> = </a:t>
            </a:r>
            <a:r>
              <a:rPr lang="pt-BR" b="1" dirty="0" err="1">
                <a:latin typeface="Courier New" panose="02070309020205020404" pitchFamily="49" charset="0"/>
              </a:rPr>
              <a:t>true</a:t>
            </a:r>
            <a:endParaRPr lang="pt-BR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TagID</a:t>
            </a:r>
            <a:r>
              <a:rPr lang="pt-BR" b="1" dirty="0">
                <a:latin typeface="Courier New" panose="02070309020205020404" pitchFamily="49" charset="0"/>
              </a:rPr>
              <a:t> = 25 ou 26</a:t>
            </a:r>
          </a:p>
          <a:p>
            <a:pPr rtl="0">
              <a:buNone/>
            </a:pPr>
            <a:endParaRPr lang="pt-BR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2. Gire o robô</a:t>
            </a: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RobotYawDegrees</a:t>
            </a:r>
            <a:r>
              <a:rPr lang="pt-BR" b="1" dirty="0">
                <a:latin typeface="Courier New" panose="02070309020205020404" pitchFamily="49" charset="0"/>
              </a:rPr>
              <a:t> muda</a:t>
            </a: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TX/TY mudam conforme a câmera muda de posição</a:t>
            </a:r>
          </a:p>
          <a:p>
            <a:pPr rtl="0">
              <a:buNone/>
            </a:pPr>
            <a:endParaRPr lang="pt-BR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3. A </a:t>
            </a:r>
            <a:r>
              <a:rPr lang="pt-BR" b="1" dirty="0" err="1">
                <a:latin typeface="Courier New" panose="02070309020205020404" pitchFamily="49" charset="0"/>
              </a:rPr>
              <a:t>tag</a:t>
            </a:r>
            <a:r>
              <a:rPr lang="pt-BR" b="1" dirty="0">
                <a:latin typeface="Courier New" panose="02070309020205020404" pitchFamily="49" charset="0"/>
              </a:rPr>
              <a:t> sai do campo de visão</a:t>
            </a: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HasTarget</a:t>
            </a:r>
            <a:r>
              <a:rPr lang="pt-BR" b="1" dirty="0">
                <a:latin typeface="Courier New" panose="02070309020205020404" pitchFamily="49" charset="0"/>
              </a:rPr>
              <a:t> = false</a:t>
            </a: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TagID</a:t>
            </a:r>
            <a:r>
              <a:rPr lang="pt-BR" b="1" dirty="0">
                <a:latin typeface="Courier New" panose="02070309020205020404" pitchFamily="49" charset="0"/>
              </a:rPr>
              <a:t> = -1</a:t>
            </a: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TX/TY/TA vão para 0</a:t>
            </a:r>
          </a:p>
          <a:p>
            <a:pPr rtl="0">
              <a:buNone/>
            </a:pPr>
            <a:endParaRPr lang="pt-BR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4. Volte a apontar a câmera para a </a:t>
            </a:r>
            <a:r>
              <a:rPr lang="pt-BR" b="1" dirty="0" err="1">
                <a:latin typeface="Courier New" panose="02070309020205020404" pitchFamily="49" charset="0"/>
              </a:rPr>
              <a:t>tag</a:t>
            </a:r>
            <a:endParaRPr lang="pt-BR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HasTarget</a:t>
            </a:r>
            <a:r>
              <a:rPr lang="pt-BR" b="1" dirty="0">
                <a:latin typeface="Courier New" panose="02070309020205020404" pitchFamily="49" charset="0"/>
              </a:rPr>
              <a:t> volta para </a:t>
            </a:r>
            <a:r>
              <a:rPr lang="pt-BR" b="1" dirty="0" err="1">
                <a:latin typeface="Courier New" panose="02070309020205020404" pitchFamily="49" charset="0"/>
              </a:rPr>
              <a:t>true</a:t>
            </a:r>
            <a:endParaRPr lang="pt-BR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b="1" dirty="0">
                <a:latin typeface="Courier New" panose="02070309020205020404" pitchFamily="49" charset="0"/>
              </a:rPr>
              <a:t>   → </a:t>
            </a:r>
            <a:r>
              <a:rPr lang="pt-BR" b="1" dirty="0" err="1">
                <a:latin typeface="Courier New" panose="02070309020205020404" pitchFamily="49" charset="0"/>
              </a:rPr>
              <a:t>TagID</a:t>
            </a:r>
            <a:r>
              <a:rPr lang="pt-BR" b="1" dirty="0">
                <a:latin typeface="Courier New" panose="02070309020205020404" pitchFamily="49" charset="0"/>
              </a:rPr>
              <a:t> volta corretamente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26535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698A272-E0C0-EFEB-8402-5FB6E447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8952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A50386-DFFC-14E7-369A-A3F1BF4C1683}"/>
              </a:ext>
            </a:extLst>
          </p:cNvPr>
          <p:cNvSpPr txBox="1"/>
          <p:nvPr/>
        </p:nvSpPr>
        <p:spPr>
          <a:xfrm>
            <a:off x="6531984" y="2650953"/>
            <a:ext cx="5761616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        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POSE DO ROBÔ CALCULADA PELO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getBotPoseEstimate_wpiBlue_MegaTag2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64267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4F75AB5-CABF-B933-DC7C-D7B471C9E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75" r="-1" b="17862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19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B9107-3E24-FD95-80D7-8BE9CDEA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BE2F7-B739-5A28-B165-7510485A07B2}"/>
              </a:ext>
            </a:extLst>
          </p:cNvPr>
          <p:cNvSpPr txBox="1"/>
          <p:nvPr/>
        </p:nvSpPr>
        <p:spPr>
          <a:xfrm>
            <a:off x="6096000" y="1425448"/>
            <a:ext cx="6094206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RotationDegrees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getDegrees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AvgTagDist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B03EF2-FAA8-31B2-9930-B6E2AD7327E7}"/>
              </a:ext>
            </a:extLst>
          </p:cNvPr>
          <p:cNvSpPr txBox="1"/>
          <p:nvPr/>
        </p:nvSpPr>
        <p:spPr>
          <a:xfrm>
            <a:off x="670560" y="1425448"/>
            <a:ext cx="6096000" cy="391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/MegaTag2/X"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/MegaTag2/Y"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715679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FDC3D9-319E-2A9C-D6D8-926834267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4BC5313F-0DDE-BBC3-48E8-CD1233BF3CEC}"/>
              </a:ext>
            </a:extLst>
          </p:cNvPr>
          <p:cNvSpPr/>
          <p:nvPr/>
        </p:nvSpPr>
        <p:spPr>
          <a:xfrm>
            <a:off x="892885" y="5583219"/>
            <a:ext cx="1355463" cy="11618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878999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694</Words>
  <Application>Microsoft Office PowerPoint</Application>
  <PresentationFormat>Widescreen</PresentationFormat>
  <Paragraphs>156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Avenir Next LT Pro</vt:lpstr>
      <vt:lpstr>Consolas</vt:lpstr>
      <vt:lpstr>Courier New</vt:lpstr>
      <vt:lpstr>Posterama</vt:lpstr>
      <vt:lpstr>SplashVTI</vt:lpstr>
      <vt:lpstr>Vision.java</vt:lpstr>
      <vt:lpstr>Apresentação do PowerPoint</vt:lpstr>
      <vt:lpstr>Apresentação do PowerPoint</vt:lpstr>
      <vt:lpstr>Apresentação do PowerPoint</vt:lpstr>
      <vt:lpstr>Apresentação do PowerPoint</vt:lpstr>
      <vt:lpstr>Vision.java</vt:lpstr>
      <vt:lpstr>Apresentação do PowerPoint</vt:lpstr>
      <vt:lpstr>Apresentação do PowerPoint</vt:lpstr>
      <vt:lpstr>Apresentação do PowerPoint</vt:lpstr>
      <vt:lpstr>Estamos conectados e recebendo os valores da limelight.</vt:lpstr>
      <vt:lpstr>Enviar esse yaw para a Limelight.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15</cp:revision>
  <dcterms:created xsi:type="dcterms:W3CDTF">2026-09-30T17:12:07Z</dcterms:created>
  <dcterms:modified xsi:type="dcterms:W3CDTF">2026-09-30T19:13:27Z</dcterms:modified>
</cp:coreProperties>
</file>