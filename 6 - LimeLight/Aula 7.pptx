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18"/>
  </p:notes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7AD38-606C-48AE-A60F-D94638E8BFB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D4B94-6FDC-4A88-AB7F-51FC0AEC6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20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D4B94-6FDC-4A88-AB7F-51FC0AEC686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90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83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41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01749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202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14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70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907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60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98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3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46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242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034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347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352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557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175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45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026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919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8469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277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69364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4825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187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395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27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A7FDB78F-1E08-4B9F-889F-3DEB876AABB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E547FB60-02CE-4F90-A903-5105587E5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47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95BE7-1B2F-58EB-4204-F5815ADF5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614775"/>
            <a:ext cx="8168640" cy="4462272"/>
          </a:xfrm>
        </p:spPr>
        <p:txBody>
          <a:bodyPr>
            <a:normAutofit fontScale="90000"/>
          </a:bodyPr>
          <a:lstStyle/>
          <a:p>
            <a:r>
              <a:rPr lang="pt-BR" dirty="0"/>
              <a:t>Sincronização manual do MegaTag2 com o </a:t>
            </a:r>
            <a:r>
              <a:rPr lang="pt-BR" dirty="0" err="1"/>
              <a:t>PoseEstimator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87A604-3C1C-5EF2-22D0-44373730C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844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B93DA5A-6998-AF23-2DA4-C07BF2C303DA}"/>
              </a:ext>
            </a:extLst>
          </p:cNvPr>
          <p:cNvSpPr txBox="1"/>
          <p:nvPr/>
        </p:nvSpPr>
        <p:spPr>
          <a:xfrm>
            <a:off x="0" y="30480"/>
            <a:ext cx="11602720" cy="614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Combinação de botões Xbox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          ↓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Verifica se o robô está parado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          ↓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Vision/</a:t>
            </a:r>
            <a:r>
              <a:rPr lang="pt-BR" sz="2400" dirty="0" err="1">
                <a:latin typeface="Courier New" panose="02070309020205020404" pitchFamily="49" charset="0"/>
              </a:rPr>
              <a:t>Rear</a:t>
            </a:r>
            <a:r>
              <a:rPr lang="pt-BR" sz="2400" dirty="0">
                <a:latin typeface="Courier New" panose="02070309020205020404" pitchFamily="49" charset="0"/>
              </a:rPr>
              <a:t>/MegaTag2/</a:t>
            </a:r>
            <a:r>
              <a:rPr lang="pt-BR" sz="2400" dirty="0" err="1">
                <a:latin typeface="Courier New" panose="02070309020205020404" pitchFamily="49" charset="0"/>
              </a:rPr>
              <a:t>SeedReady</a:t>
            </a:r>
            <a:r>
              <a:rPr lang="pt-BR" sz="2400" dirty="0">
                <a:latin typeface="Courier New" panose="02070309020205020404" pitchFamily="49" charset="0"/>
              </a:rPr>
              <a:t> == </a:t>
            </a:r>
            <a:r>
              <a:rPr lang="pt-BR" sz="2400" dirty="0" err="1">
                <a:latin typeface="Courier New" panose="02070309020205020404" pitchFamily="49" charset="0"/>
              </a:rPr>
              <a:t>true</a:t>
            </a:r>
            <a:r>
              <a:rPr lang="pt-BR" sz="2400" dirty="0">
                <a:latin typeface="Courier New" panose="02070309020205020404" pitchFamily="49" charset="0"/>
              </a:rPr>
              <a:t>?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          ↓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Obtém a última pose válida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          ↓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 err="1">
                <a:latin typeface="Courier New" panose="02070309020205020404" pitchFamily="49" charset="0"/>
              </a:rPr>
              <a:t>drive.seedPoseFromVision</a:t>
            </a:r>
            <a:r>
              <a:rPr lang="pt-BR" sz="2400" dirty="0">
                <a:latin typeface="Courier New" panose="02070309020205020404" pitchFamily="49" charset="0"/>
              </a:rPr>
              <a:t>(...)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>
                <a:latin typeface="Courier New" panose="02070309020205020404" pitchFamily="49" charset="0"/>
              </a:rPr>
              <a:t>          ↓</a:t>
            </a:r>
          </a:p>
          <a:p>
            <a:pPr algn="ctr" rtl="0">
              <a:lnSpc>
                <a:spcPct val="150000"/>
              </a:lnSpc>
              <a:buNone/>
            </a:pPr>
            <a:r>
              <a:rPr lang="pt-BR" sz="2400" dirty="0" err="1">
                <a:latin typeface="Courier New" panose="02070309020205020404" pitchFamily="49" charset="0"/>
              </a:rPr>
              <a:t>Robot</a:t>
            </a:r>
            <a:r>
              <a:rPr lang="pt-BR" sz="2400" dirty="0">
                <a:latin typeface="Courier New" panose="02070309020205020404" pitchFamily="49" charset="0"/>
              </a:rPr>
              <a:t>/Pose assume X/Y do campo</a:t>
            </a:r>
          </a:p>
        </p:txBody>
      </p:sp>
    </p:spTree>
    <p:extLst>
      <p:ext uri="{BB962C8B-B14F-4D97-AF65-F5344CB8AC3E}">
        <p14:creationId xmlns:p14="http://schemas.microsoft.com/office/powerpoint/2010/main" val="288197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82742F-4A41-EC28-5193-29AE0F24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13986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B9A580F-C254-C3AB-74D5-1320DD9AE388}"/>
              </a:ext>
            </a:extLst>
          </p:cNvPr>
          <p:cNvSpPr txBox="1"/>
          <p:nvPr/>
        </p:nvSpPr>
        <p:spPr>
          <a:xfrm>
            <a:off x="6664064" y="3205734"/>
            <a:ext cx="4898016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Quantidade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utilizadas na última captura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5457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144ECF5-7FA1-CB69-2C69-E70D375F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32968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AD86FF3-6D95-4007-B15D-B2550FA63AF1}"/>
              </a:ext>
            </a:extLst>
          </p:cNvPr>
          <p:cNvSpPr txBox="1"/>
          <p:nvPr/>
        </p:nvSpPr>
        <p:spPr>
          <a:xfrm>
            <a:off x="6550837" y="555492"/>
            <a:ext cx="6096000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Tempo decorrido desde a última captura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getFPGATimestamp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A MEDIÇÃO ESTÁ PRONTA PARA INICIALIZAÇÃO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seedReady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Exige pelo menos duas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já recebemos uma captura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o tempo é válido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captura deve ter no máximo 250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0829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2DF579-DB9B-D77F-F047-C25939F0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39064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2FEED6E-A289-46A7-E8DE-14E1A21EFF11}"/>
              </a:ext>
            </a:extLst>
          </p:cNvPr>
          <p:cNvSpPr txBox="1"/>
          <p:nvPr/>
        </p:nvSpPr>
        <p:spPr>
          <a:xfrm>
            <a:off x="5994400" y="1288286"/>
            <a:ext cx="540512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ARMAZENA A ÚLTIMA MEDIÇÃO VÁLIDA E RECENTE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atual da 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getFPGATimestamp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2940751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F8D56A-9CD8-9E80-CC3B-6B76C0C71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96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B28F33C-66CA-E8FE-2BE6-5F4FD5BE08BE}"/>
              </a:ext>
            </a:extLst>
          </p:cNvPr>
          <p:cNvSpPr txBox="1"/>
          <p:nvPr/>
        </p:nvSpPr>
        <p:spPr>
          <a:xfrm>
            <a:off x="6094227" y="382792"/>
            <a:ext cx="6097772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MEGATAG2 - INICIALIZAÇÃO MANUAL DO POSE ESTIMATOR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trySeedDrivePose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Tempo desde a última medição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getFPGATimestamp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CONDIÇÕES DE SEGURANÇA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allowed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isStationary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94838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266491-25EE-8C31-9544-A597623DB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11007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541A2D3-DFD5-1B5E-690E-2CC2D225228F}"/>
              </a:ext>
            </a:extLst>
          </p:cNvPr>
          <p:cNvSpPr txBox="1"/>
          <p:nvPr/>
        </p:nvSpPr>
        <p:spPr>
          <a:xfrm>
            <a:off x="5648960" y="550164"/>
            <a:ext cx="6471920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  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LIMELIGHT - SINCRONIZAÇÃO MANUAL DA 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START + SETA PARA BAIXO (D-PAD ↓)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Executa uma única tentativa por acionamento.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povDown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runOnce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()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trySeedDrivePose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1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23BAA1B-7A18-E676-BE1B-62A224EF9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952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2784A00-EC73-3A25-C156-06EF3B4AB16E}"/>
              </a:ext>
            </a:extLst>
          </p:cNvPr>
          <p:cNvSpPr txBox="1"/>
          <p:nvPr/>
        </p:nvSpPr>
        <p:spPr>
          <a:xfrm>
            <a:off x="6604000" y="283776"/>
            <a:ext cx="5445760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O ROBÔ ESTÁ PARADO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isStationary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a velocidade angular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a velocidade real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88757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64CA-0D58-F66C-78F1-D807E7C1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E0748-7C8A-1CF9-E2FB-E4945979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2. Quais informações abrir no </a:t>
            </a:r>
            <a:r>
              <a:rPr lang="pt-BR" b="1" dirty="0" err="1"/>
              <a:t>AdvantageScope</a:t>
            </a:r>
            <a:r>
              <a:rPr lang="pt-BR" b="1" dirty="0"/>
              <a:t>?</a:t>
            </a: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6CC457A-040C-BBBF-19F8-66B6A2DB6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693166"/>
              </p:ext>
            </p:extLst>
          </p:nvPr>
        </p:nvGraphicFramePr>
        <p:xfrm>
          <a:off x="603250" y="2190337"/>
          <a:ext cx="10980738" cy="3291714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490369">
                  <a:extLst>
                    <a:ext uri="{9D8B030D-6E8A-4147-A177-3AD203B41FA5}">
                      <a16:colId xmlns:a16="http://schemas.microsoft.com/office/drawing/2014/main" val="1760746965"/>
                    </a:ext>
                  </a:extLst>
                </a:gridCol>
                <a:gridCol w="5490369">
                  <a:extLst>
                    <a:ext uri="{9D8B030D-6E8A-4147-A177-3AD203B41FA5}">
                      <a16:colId xmlns:a16="http://schemas.microsoft.com/office/drawing/2014/main" val="2470090125"/>
                    </a:ext>
                  </a:extLst>
                </a:gridCol>
              </a:tblGrid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Caminho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O que observar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1125976365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Vision/Rear/MegaTag2/Valid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true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4068129619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Vision/Rear/MegaTag2/TagCount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2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3975619810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Vision/Rear/MegaTag2/SeedReady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true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2968621770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Vision/Rear/MegaTag2/FrameAgeSeconds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Até 0,25 s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40559164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Vision/Rear/MegaTag2/SeedAccepted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Resultado do botão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4099260423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Vision/Rear/MegaTag2/Pose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Posição medida pela câmera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1154017325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Drive/Vision/SeedPose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Pose aplicada na sincronização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2738330087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Robot/Pose</a:t>
                      </a:r>
                    </a:p>
                  </a:txBody>
                  <a:tcPr marL="91427" marR="91427" marT="45713" marB="45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Posição estimada pelo Drive</a:t>
                      </a:r>
                    </a:p>
                  </a:txBody>
                  <a:tcPr marL="91427" marR="91427" marT="45713" marB="45713" anchor="ctr"/>
                </a:tc>
                <a:extLst>
                  <a:ext uri="{0D108BD9-81ED-4DB2-BD59-A6C34878D82A}">
                    <a16:rowId xmlns:a16="http://schemas.microsoft.com/office/drawing/2014/main" val="4105656894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A92A7C69-CFE5-8A0B-22EC-EAFDB6949B5A}"/>
              </a:ext>
            </a:extLst>
          </p:cNvPr>
          <p:cNvSpPr txBox="1"/>
          <p:nvPr/>
        </p:nvSpPr>
        <p:spPr>
          <a:xfrm>
            <a:off x="4897120" y="5711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START + </a:t>
            </a:r>
            <a:r>
              <a:rPr lang="pt-BR" dirty="0" err="1"/>
              <a:t>D-Pad</a:t>
            </a:r>
            <a:r>
              <a:rPr lang="pt-BR" dirty="0"/>
              <a:t> ↓,</a:t>
            </a:r>
          </a:p>
        </p:txBody>
      </p:sp>
    </p:spTree>
    <p:extLst>
      <p:ext uri="{BB962C8B-B14F-4D97-AF65-F5344CB8AC3E}">
        <p14:creationId xmlns:p14="http://schemas.microsoft.com/office/powerpoint/2010/main" val="362980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AF12D52-CF07-9937-3D39-AE2E84E37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334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2994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78DB317-9F3E-D3EB-83E4-8C2CB22E1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6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E164B-35C8-B8F1-CCA5-0DF8EC6F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Realizar a Sincronização</a:t>
            </a:r>
          </a:p>
        </p:txBody>
      </p:sp>
    </p:spTree>
    <p:extLst>
      <p:ext uri="{BB962C8B-B14F-4D97-AF65-F5344CB8AC3E}">
        <p14:creationId xmlns:p14="http://schemas.microsoft.com/office/powerpoint/2010/main" val="4183608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C259F9-3637-C393-FA9A-2DA722FB2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3281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2E7263-C9DA-FFE7-70DE-50FEC9393933}"/>
              </a:ext>
            </a:extLst>
          </p:cNvPr>
          <p:cNvSpPr txBox="1"/>
          <p:nvPr/>
        </p:nvSpPr>
        <p:spPr>
          <a:xfrm>
            <a:off x="7193280" y="1596094"/>
            <a:ext cx="4998720" cy="366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    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ARMAZENA A ÚLTIMA MEDIÇÃO VÁLIDA E RECENTE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atual da visão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pt-BR" sz="945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latestValidTagCount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getFPGATimestamp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72153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31040C4-FB63-7C4D-13DE-540E59044A5E}"/>
              </a:ext>
            </a:extLst>
          </p:cNvPr>
          <p:cNvSpPr txBox="1"/>
          <p:nvPr/>
        </p:nvSpPr>
        <p:spPr>
          <a:xfrm>
            <a:off x="6268720" y="1188931"/>
            <a:ext cx="6096000" cy="448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FUSÃO CONTÍNUA MEGATAG2 + POSE ESTIMATOR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somente uma NOVA medição válida.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X e Y: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serão corrigidos pela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Rotação: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continuará praticamente confiada ao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2,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porque no Drive usamos um desvio muito alto para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permite ao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compensar a latência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 captura da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19692A-5CA6-E00F-1A36-655E11BC6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6969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5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1502C-8E8F-3226-6DBD-3388077C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19F77E-7E66-AE6F-F142-D87AFD170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7" y="1736176"/>
            <a:ext cx="5990854" cy="4198867"/>
          </a:xfrm>
        </p:spPr>
        <p:txBody>
          <a:bodyPr/>
          <a:lstStyle/>
          <a:p>
            <a:r>
              <a:rPr lang="pt-BR" dirty="0"/>
              <a:t>Isso é importante porque seu código já garante antes que a medição seja válida, tenha </a:t>
            </a:r>
            <a:r>
              <a:rPr lang="pt-BR" dirty="0" err="1"/>
              <a:t>timestamp</a:t>
            </a:r>
            <a:r>
              <a:rPr lang="pt-BR" dirty="0"/>
              <a:t> finito e seja realmente um frame novo. </a:t>
            </a:r>
            <a:r>
              <a:rPr lang="pt-BR" dirty="0" err="1"/>
              <a:t>Markdown</a:t>
            </a:r>
            <a:r>
              <a:rPr lang="pt-BR" dirty="0"/>
              <a:t> colado</a:t>
            </a:r>
          </a:p>
          <a:p>
            <a:r>
              <a:rPr lang="pt-BR" b="1" dirty="0"/>
              <a:t>Não coloque</a:t>
            </a:r>
            <a:r>
              <a:rPr lang="pt-BR" dirty="0"/>
              <a:t> essa chamada fora do </a:t>
            </a:r>
            <a:r>
              <a:rPr lang="pt-BR" dirty="0" err="1"/>
              <a:t>if</a:t>
            </a:r>
            <a:r>
              <a:rPr lang="pt-BR" dirty="0"/>
              <a:t>, senão você poderia enviar repetidamente a mesma medição para o </a:t>
            </a:r>
            <a:r>
              <a:rPr lang="pt-BR" dirty="0" err="1"/>
              <a:t>PoseEstimator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070C0B-8137-BDC3-A311-0D006FFC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45" y="1987501"/>
            <a:ext cx="324847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2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8BFCD6-171D-DC13-1B13-262764A39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4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9335014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ência Laranja">
  <a:themeElements>
    <a:clrScheme name="Experiência Laranja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91</TotalTime>
  <Words>889</Words>
  <Application>Microsoft Office PowerPoint</Application>
  <PresentationFormat>Widescreen</PresentationFormat>
  <Paragraphs>196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Consolas</vt:lpstr>
      <vt:lpstr>Courier New</vt:lpstr>
      <vt:lpstr>Oswald SemiBold</vt:lpstr>
      <vt:lpstr>Univers Condensed Light</vt:lpstr>
      <vt:lpstr>Experiência Laranja</vt:lpstr>
      <vt:lpstr>Sincronização manual do MegaTag2 com o PoseEstimator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2. Quais informações abrir no AdvantageScope?</vt:lpstr>
      <vt:lpstr>Apresentação do PowerPoint</vt:lpstr>
      <vt:lpstr>Apresentação do PowerPoint</vt:lpstr>
      <vt:lpstr>Realizar a Sincronização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12</cp:revision>
  <dcterms:created xsi:type="dcterms:W3CDTF">2026-10-01T18:35:09Z</dcterms:created>
  <dcterms:modified xsi:type="dcterms:W3CDTF">2026-10-06T17:09:38Z</dcterms:modified>
</cp:coreProperties>
</file>