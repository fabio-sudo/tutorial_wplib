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2" r:id="rId10"/>
    <p:sldId id="294" r:id="rId11"/>
    <p:sldId id="291" r:id="rId12"/>
    <p:sldId id="293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D2DFD-CB8B-FD29-4CD8-5CB0BF5F2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BD50E0-A6F7-10F3-34EB-A67A4A566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1A49CE-E83B-4852-EE30-D53F1D6E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6010E1-CB55-4F5B-D021-CFB09D04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B6A66-81DB-8040-E437-731D3C9E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39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6B266-9646-0F2B-2637-20A430431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EF2D2F-8F86-B92F-B4A3-6C1A84D33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7F412F-EB5F-E11C-A8A0-BCB24D60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AB25D4-1E76-FBDA-58B1-269BEA31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F1741B-924D-3E48-6AAA-A0C5033A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470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111C6-E47B-4ABF-8E99-A2F467FE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F35FEB-2A13-9212-809E-DBB66B3CB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528C6B-473C-9764-4EA6-73902189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9ADADD-7142-3861-E612-63C6A0CC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AA486B-5BCD-AEE3-3C39-DE744E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854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E47E6-BC17-0681-2C5D-CE432D5F8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72C909-51AD-1717-6102-80F8F1F2D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C8D699-D4D3-09B2-AB77-46DB56827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A61D0-D18C-083A-100A-3D9C909A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CAC734-E8CD-D131-275A-A05D1A13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AD7807-4062-57DD-3B64-39B01CAA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08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63B35-0070-ADCB-6FB2-17003CBD8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EC8981-1EBF-74D5-2E0B-B3AD1134B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43E387-DEE0-E94F-9241-2350920BA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92BDA7-89A3-E905-125D-2DB5B6946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C8262B2-2D72-24AF-D082-CE8170226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DF0CD4-A56B-75CC-5AC5-2BF4F8DB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50B16AF-8902-E332-6DB2-AB55B5E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A91692-5F31-3D38-110A-461E9C68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85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5D73E-CA86-D96F-8BB8-9335FB00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2CCCE7-E25A-D20E-B32F-EA39B8C4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EF879A-E5A4-CE5A-4AB9-10D4B0F2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C3126F5-87FB-6E00-C11C-BA5030ED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72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8C077C-70E2-6301-3F1F-DD1942B2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AE3B93-E079-CDFA-9A6C-B1D40B1F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C592D4-3065-00B4-B764-D4D97634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48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CD2673-483F-CA62-8DFB-B4F0BADA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254BD7-5460-A6C2-0928-139E89EF5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FD3862-13F3-10D1-4355-757C65F98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745833-F196-9EDA-BA14-E75F0B92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0A1FB2-F7C7-B238-45A6-C604B07D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70F865-42A1-2375-11A6-5CB38987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17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5A819-018A-E2A3-0EDD-2A9C2093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FB42C3-432F-A1C3-16B5-D573C5DA1B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4024A6-129E-E2EC-36CF-0EB9F7393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91A03B-992A-B89E-9CF8-692FF46B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78D40C-389B-CAB5-EF10-34C0CD46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2B3DE3-C7BB-E68B-91EE-6CD3C597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798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10321-788C-552F-130D-DF5F7069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3E4A6F-657E-CE0E-5E40-C85F96F99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55D6C0-402A-49E8-964A-199BECD7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0444B9-BACB-B420-22C6-4552357BC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635FF1-ECFA-27B5-80C7-395DB57C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6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643CE1-912A-5511-77FE-CC31FDDA7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873EA5-504B-AE04-ED39-C1B04260D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44EC5A-69EF-507B-4D51-AEC2440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5C0680-37F7-06DB-B23C-302E3D7CD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BAA994-7DF7-8B39-A2C8-7DE71F0D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81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F3DAF9-3A82-FBD9-63A1-9E24AAE6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55A27F-EC2C-E3AD-761F-56FEE11E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D7F28C-8D4B-A20F-093B-F2395EC7E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C2D6C-CD43-49C3-BA7B-151C8437519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421019-1691-C5AE-0B7C-4520F7781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7A4928-8660-9DDC-94FD-D67F063BF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B5A8D-D8DC-41BA-8848-941FBD37A1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11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EF1773-008D-56CD-9B04-C001CC3B6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pt-BR" sz="7200"/>
              <a:t>Testar Motores de 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DEF9C4-C9BC-5689-64BB-0C67C0A62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pt-BR" dirty="0"/>
              <a:t>13 – 19 – 14 - 17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3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3E90FD-7DF2-C613-D202-CCB3F1996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18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078C881-6A46-0CD0-CCDA-82EECFE5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739C6E3-7D54-311B-935D-68FC38C5B1C0}"/>
              </a:ext>
            </a:extLst>
          </p:cNvPr>
          <p:cNvSpPr/>
          <p:nvPr/>
        </p:nvSpPr>
        <p:spPr>
          <a:xfrm rot="14924046">
            <a:off x="326872" y="829617"/>
            <a:ext cx="767255" cy="767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47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07D685-57C5-F113-193D-D15551F96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8DEECA1F-3107-39C1-9208-791F9462D149}"/>
              </a:ext>
            </a:extLst>
          </p:cNvPr>
          <p:cNvCxnSpPr/>
          <p:nvPr/>
        </p:nvCxnSpPr>
        <p:spPr>
          <a:xfrm>
            <a:off x="457200" y="3647440"/>
            <a:ext cx="2479040" cy="1717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0EBC571-C2AE-CE23-80C6-B12AF259CFA8}"/>
              </a:ext>
            </a:extLst>
          </p:cNvPr>
          <p:cNvSpPr/>
          <p:nvPr/>
        </p:nvSpPr>
        <p:spPr>
          <a:xfrm>
            <a:off x="2250440" y="5278120"/>
            <a:ext cx="538480" cy="548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76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141DDEB-2865-C4AF-8389-0CFE7C18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17187" cy="68580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D8501149-ED53-8DB5-6888-8F868BB5F290}"/>
              </a:ext>
            </a:extLst>
          </p:cNvPr>
          <p:cNvCxnSpPr/>
          <p:nvPr/>
        </p:nvCxnSpPr>
        <p:spPr>
          <a:xfrm>
            <a:off x="1671145" y="5675586"/>
            <a:ext cx="1492469" cy="388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4F6D7BC8-6B6B-FEC2-4825-31CC2EB37515}"/>
              </a:ext>
            </a:extLst>
          </p:cNvPr>
          <p:cNvSpPr/>
          <p:nvPr/>
        </p:nvSpPr>
        <p:spPr>
          <a:xfrm rot="9259108">
            <a:off x="4969359" y="5602189"/>
            <a:ext cx="1330960" cy="924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58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11FDA76-DE2C-E6BD-A693-02266252F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4404"/>
            <a:ext cx="6469680" cy="6962403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6D6AC62B-CB44-8715-9A2A-0A84E9CD9A22}"/>
              </a:ext>
            </a:extLst>
          </p:cNvPr>
          <p:cNvCxnSpPr>
            <a:cxnSpLocks/>
          </p:cNvCxnSpPr>
          <p:nvPr/>
        </p:nvCxnSpPr>
        <p:spPr>
          <a:xfrm>
            <a:off x="840828" y="5339255"/>
            <a:ext cx="2301765" cy="409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DBEDFCF3-0825-0B83-E784-572EC7E0B2AE}"/>
              </a:ext>
            </a:extLst>
          </p:cNvPr>
          <p:cNvSpPr/>
          <p:nvPr/>
        </p:nvSpPr>
        <p:spPr>
          <a:xfrm rot="9259108">
            <a:off x="4630441" y="5581988"/>
            <a:ext cx="1330960" cy="924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914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ACFAE5-37CF-3797-AEB9-6889E6073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2746" cy="685800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04496DF-E4B6-974C-17C8-9911B333CE40}"/>
              </a:ext>
            </a:extLst>
          </p:cNvPr>
          <p:cNvCxnSpPr/>
          <p:nvPr/>
        </p:nvCxnSpPr>
        <p:spPr>
          <a:xfrm>
            <a:off x="893379" y="3429000"/>
            <a:ext cx="2175642" cy="2477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8D4C8D9D-755F-7772-4F5C-094936B7C9FC}"/>
              </a:ext>
            </a:extLst>
          </p:cNvPr>
          <p:cNvSpPr/>
          <p:nvPr/>
        </p:nvSpPr>
        <p:spPr>
          <a:xfrm rot="9259108">
            <a:off x="4531360" y="5690708"/>
            <a:ext cx="1330960" cy="924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485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41A258-553A-3838-1788-776A486DD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3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07FEC2-8637-B711-9838-4E5270681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136" y="951798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pt-BR" sz="3700" b="1" dirty="0"/>
              <a:t>TalonFX-17 (Back </a:t>
            </a:r>
            <a:r>
              <a:rPr lang="pt-BR" sz="3700" b="1" dirty="0" err="1"/>
              <a:t>Left</a:t>
            </a:r>
            <a:r>
              <a:rPr lang="pt-BR" sz="3700" b="1" dirty="0"/>
              <a:t>)</a:t>
            </a:r>
            <a:r>
              <a:rPr lang="pt-BR" sz="3700" dirty="0"/>
              <a:t>, a tabela no mesmo estilo fica assim:</a:t>
            </a:r>
          </a:p>
        </p:txBody>
      </p:sp>
      <p:graphicFrame>
        <p:nvGraphicFramePr>
          <p:cNvPr id="7" name="Espaço Reservado para Conteúdo 3">
            <a:extLst>
              <a:ext uri="{FF2B5EF4-FFF2-40B4-BE49-F238E27FC236}">
                <a16:creationId xmlns:a16="http://schemas.microsoft.com/office/drawing/2014/main" id="{1FB9570B-0B90-D284-0ABD-F2264B0E822B}"/>
              </a:ext>
            </a:extLst>
          </p:cNvPr>
          <p:cNvGraphicFramePr>
            <a:graphicFrameLocks/>
          </p:cNvGraphicFramePr>
          <p:nvPr/>
        </p:nvGraphicFramePr>
        <p:xfrm>
          <a:off x="1250470" y="2405149"/>
          <a:ext cx="9684964" cy="389939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356474">
                  <a:extLst>
                    <a:ext uri="{9D8B030D-6E8A-4147-A177-3AD203B41FA5}">
                      <a16:colId xmlns:a16="http://schemas.microsoft.com/office/drawing/2014/main" val="2515538728"/>
                    </a:ext>
                  </a:extLst>
                </a:gridCol>
                <a:gridCol w="2320112">
                  <a:extLst>
                    <a:ext uri="{9D8B030D-6E8A-4147-A177-3AD203B41FA5}">
                      <a16:colId xmlns:a16="http://schemas.microsoft.com/office/drawing/2014/main" val="2829874598"/>
                    </a:ext>
                  </a:extLst>
                </a:gridCol>
                <a:gridCol w="4008378">
                  <a:extLst>
                    <a:ext uri="{9D8B030D-6E8A-4147-A177-3AD203B41FA5}">
                      <a16:colId xmlns:a16="http://schemas.microsoft.com/office/drawing/2014/main" val="1589772739"/>
                    </a:ext>
                  </a:extLst>
                </a:gridCol>
              </a:tblGrid>
              <a:tr h="529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Constante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Resultado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Leitura</a:t>
                      </a:r>
                    </a:p>
                  </a:txBody>
                  <a:tcPr marL="120352" marR="120352" marT="60176" marB="60176" anchor="ctr"/>
                </a:tc>
                <a:extLst>
                  <a:ext uri="{0D108BD9-81ED-4DB2-BD59-A6C34878D82A}">
                    <a16:rowId xmlns:a16="http://schemas.microsoft.com/office/drawing/2014/main" val="2559676535"/>
                  </a:ext>
                </a:extLst>
              </a:tr>
              <a:tr h="529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kS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0,241 V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plausível e consistente</a:t>
                      </a:r>
                    </a:p>
                  </a:txBody>
                  <a:tcPr marL="120352" marR="120352" marT="60176" marB="60176" anchor="ctr"/>
                </a:tc>
                <a:extLst>
                  <a:ext uri="{0D108BD9-81ED-4DB2-BD59-A6C34878D82A}">
                    <a16:rowId xmlns:a16="http://schemas.microsoft.com/office/drawing/2014/main" val="2781001366"/>
                  </a:ext>
                </a:extLst>
              </a:tr>
              <a:tr h="529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kV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2,337 V/(m/s)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muito coerente</a:t>
                      </a:r>
                    </a:p>
                  </a:txBody>
                  <a:tcPr marL="120352" marR="120352" marT="60176" marB="60176" anchor="ctr"/>
                </a:tc>
                <a:extLst>
                  <a:ext uri="{0D108BD9-81ED-4DB2-BD59-A6C34878D82A}">
                    <a16:rowId xmlns:a16="http://schemas.microsoft.com/office/drawing/2014/main" val="3445976532"/>
                  </a:ext>
                </a:extLst>
              </a:tr>
              <a:tr h="890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kA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0,081 V/(m/s²)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positivo, mas com menor confiança</a:t>
                      </a:r>
                    </a:p>
                  </a:txBody>
                  <a:tcPr marL="120352" marR="120352" marT="60176" marB="60176" anchor="ctr"/>
                </a:tc>
                <a:extLst>
                  <a:ext uri="{0D108BD9-81ED-4DB2-BD59-A6C34878D82A}">
                    <a16:rowId xmlns:a16="http://schemas.microsoft.com/office/drawing/2014/main" val="459039310"/>
                  </a:ext>
                </a:extLst>
              </a:tr>
              <a:tr h="890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Acceleration R²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0,212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ajuste fraco para aceleração</a:t>
                      </a:r>
                    </a:p>
                  </a:txBody>
                  <a:tcPr marL="120352" marR="120352" marT="60176" marB="60176" anchor="ctr"/>
                </a:tc>
                <a:extLst>
                  <a:ext uri="{0D108BD9-81ED-4DB2-BD59-A6C34878D82A}">
                    <a16:rowId xmlns:a16="http://schemas.microsoft.com/office/drawing/2014/main" val="3823670794"/>
                  </a:ext>
                </a:extLst>
              </a:tr>
              <a:tr h="529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Simulation Velocity R²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/>
                        <a:t>0,946</a:t>
                      </a:r>
                    </a:p>
                  </a:txBody>
                  <a:tcPr marL="120352" marR="120352" marT="60176" marB="601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excelente correspondência</a:t>
                      </a:r>
                    </a:p>
                  </a:txBody>
                  <a:tcPr marL="120352" marR="120352" marT="60176" marB="60176" anchor="ctr"/>
                </a:tc>
                <a:extLst>
                  <a:ext uri="{0D108BD9-81ED-4DB2-BD59-A6C34878D82A}">
                    <a16:rowId xmlns:a16="http://schemas.microsoft.com/office/drawing/2014/main" val="2614068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094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00E06F-29D1-EE5B-0664-4D600F6190F4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700" b="1"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TalonFX-13 (Front Left), a tabela no mesmo estilo fica assim: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8208F74-5A9F-FF72-194B-DC738CC31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136016"/>
              </p:ext>
            </p:extLst>
          </p:nvPr>
        </p:nvGraphicFramePr>
        <p:xfrm>
          <a:off x="882641" y="1845426"/>
          <a:ext cx="10423666" cy="4450308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3550497">
                  <a:extLst>
                    <a:ext uri="{9D8B030D-6E8A-4147-A177-3AD203B41FA5}">
                      <a16:colId xmlns:a16="http://schemas.microsoft.com/office/drawing/2014/main" val="2430398999"/>
                    </a:ext>
                  </a:extLst>
                </a:gridCol>
                <a:gridCol w="2642500">
                  <a:extLst>
                    <a:ext uri="{9D8B030D-6E8A-4147-A177-3AD203B41FA5}">
                      <a16:colId xmlns:a16="http://schemas.microsoft.com/office/drawing/2014/main" val="3198279022"/>
                    </a:ext>
                  </a:extLst>
                </a:gridCol>
                <a:gridCol w="4230669">
                  <a:extLst>
                    <a:ext uri="{9D8B030D-6E8A-4147-A177-3AD203B41FA5}">
                      <a16:colId xmlns:a16="http://schemas.microsoft.com/office/drawing/2014/main" val="854590343"/>
                    </a:ext>
                  </a:extLst>
                </a:gridCol>
              </a:tblGrid>
              <a:tr h="7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Constante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Resultado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Leitura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06619"/>
                  </a:ext>
                </a:extLst>
              </a:tr>
              <a:tr h="7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kS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0,240 V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muito coerente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698216"/>
                  </a:ext>
                </a:extLst>
              </a:tr>
              <a:tr h="7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kV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2,325 V/(m/s)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muito coerente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097188"/>
                  </a:ext>
                </a:extLst>
              </a:tr>
              <a:tr h="7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kA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0,0586 V/(m/s²)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positivo e plausível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356727"/>
                  </a:ext>
                </a:extLst>
              </a:tr>
              <a:tr h="7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Acceleration R²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0,253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ainda baixo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756096"/>
                  </a:ext>
                </a:extLst>
              </a:tr>
              <a:tr h="7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Simulation Velocity R²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0,953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500" cap="none" spc="0">
                          <a:solidFill>
                            <a:schemeClr val="tx1"/>
                          </a:solidFill>
                        </a:rPr>
                        <a:t>excelente correspondência</a:t>
                      </a:r>
                    </a:p>
                  </a:txBody>
                  <a:tcPr marL="133129" marR="95092" marT="95092" marB="19018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379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79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938EECD-A915-3D87-61C9-FAFC4D39EC1D}"/>
              </a:ext>
            </a:extLst>
          </p:cNvPr>
          <p:cNvSpPr txBox="1"/>
          <p:nvPr/>
        </p:nvSpPr>
        <p:spPr>
          <a:xfrm>
            <a:off x="1008184" y="1459907"/>
            <a:ext cx="10175630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3700" b="1"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TalonFX-19 (Front </a:t>
            </a:r>
            <a:r>
              <a:rPr lang="pt-BR" dirty="0" err="1"/>
              <a:t>Right</a:t>
            </a:r>
            <a:r>
              <a:rPr lang="pt-BR" dirty="0"/>
              <a:t>), a tabela no mesmo estilo fica assim:</a:t>
            </a:r>
            <a:endParaRPr lang="en-US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1D2EC1A-C30C-60F5-026A-0E76D16C9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880309"/>
              </p:ext>
            </p:extLst>
          </p:nvPr>
        </p:nvGraphicFramePr>
        <p:xfrm>
          <a:off x="835154" y="2631769"/>
          <a:ext cx="10515596" cy="3446154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3623704">
                  <a:extLst>
                    <a:ext uri="{9D8B030D-6E8A-4147-A177-3AD203B41FA5}">
                      <a16:colId xmlns:a16="http://schemas.microsoft.com/office/drawing/2014/main" val="77326998"/>
                    </a:ext>
                  </a:extLst>
                </a:gridCol>
                <a:gridCol w="2484336">
                  <a:extLst>
                    <a:ext uri="{9D8B030D-6E8A-4147-A177-3AD203B41FA5}">
                      <a16:colId xmlns:a16="http://schemas.microsoft.com/office/drawing/2014/main" val="3922325877"/>
                    </a:ext>
                  </a:extLst>
                </a:gridCol>
                <a:gridCol w="4407556">
                  <a:extLst>
                    <a:ext uri="{9D8B030D-6E8A-4147-A177-3AD203B41FA5}">
                      <a16:colId xmlns:a16="http://schemas.microsoft.com/office/drawing/2014/main" val="3438941210"/>
                    </a:ext>
                  </a:extLst>
                </a:gridCol>
              </a:tblGrid>
              <a:tr h="57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Constante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Resultado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Leitura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532550"/>
                  </a:ext>
                </a:extLst>
              </a:tr>
              <a:tr h="57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kS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0,251 V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plausível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90387"/>
                  </a:ext>
                </a:extLst>
              </a:tr>
              <a:tr h="57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kV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2,285 V/(m/s)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muito coerente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149344"/>
                  </a:ext>
                </a:extLst>
              </a:tr>
              <a:tr h="57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kA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0,036 V/(m/s²)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positivo e utilizável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933652"/>
                  </a:ext>
                </a:extLst>
              </a:tr>
              <a:tr h="57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Acceleration R²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0,824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ajuste razoavelmente bom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983733"/>
                  </a:ext>
                </a:extLst>
              </a:tr>
              <a:tr h="574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 dirty="0" err="1">
                          <a:solidFill>
                            <a:schemeClr val="tx1"/>
                          </a:solidFill>
                        </a:rPr>
                        <a:t>Simulation</a:t>
                      </a:r>
                      <a:r>
                        <a:rPr lang="pt-BR" sz="17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1700" cap="none" spc="0" dirty="0" err="1">
                          <a:solidFill>
                            <a:schemeClr val="tx1"/>
                          </a:solidFill>
                        </a:rPr>
                        <a:t>Velocity</a:t>
                      </a:r>
                      <a:r>
                        <a:rPr lang="pt-BR" sz="1700" cap="none" spc="0" dirty="0">
                          <a:solidFill>
                            <a:schemeClr val="tx1"/>
                          </a:solidFill>
                        </a:rPr>
                        <a:t> R²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>
                          <a:solidFill>
                            <a:schemeClr val="tx1"/>
                          </a:solidFill>
                        </a:rPr>
                        <a:t>0,976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cap="none" spc="0" dirty="0">
                          <a:solidFill>
                            <a:schemeClr val="tx1"/>
                          </a:solidFill>
                        </a:rPr>
                        <a:t>excelente correspondência</a:t>
                      </a:r>
                    </a:p>
                  </a:txBody>
                  <a:tcPr marL="0" marR="76242" marT="30497" marB="2287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494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09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53942-6C82-6E8C-D18F-9937DA53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770015-2B36-EFAA-A417-033C1274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TalonFX-14 (Back RIGHT)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a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tabela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mesmo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estilo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fica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assim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8C938666-7CE4-704F-416B-832D67B2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911550"/>
              </p:ext>
            </p:extLst>
          </p:nvPr>
        </p:nvGraphicFramePr>
        <p:xfrm>
          <a:off x="1184613" y="1845426"/>
          <a:ext cx="9819722" cy="4450305"/>
        </p:xfrm>
        <a:graphic>
          <a:graphicData uri="http://schemas.openxmlformats.org/drawingml/2006/table">
            <a:tbl>
              <a:tblPr/>
              <a:tblGrid>
                <a:gridCol w="3750491">
                  <a:extLst>
                    <a:ext uri="{9D8B030D-6E8A-4147-A177-3AD203B41FA5}">
                      <a16:colId xmlns:a16="http://schemas.microsoft.com/office/drawing/2014/main" val="770042363"/>
                    </a:ext>
                  </a:extLst>
                </a:gridCol>
                <a:gridCol w="2458423">
                  <a:extLst>
                    <a:ext uri="{9D8B030D-6E8A-4147-A177-3AD203B41FA5}">
                      <a16:colId xmlns:a16="http://schemas.microsoft.com/office/drawing/2014/main" val="3326121664"/>
                    </a:ext>
                  </a:extLst>
                </a:gridCol>
                <a:gridCol w="3610808">
                  <a:extLst>
                    <a:ext uri="{9D8B030D-6E8A-4147-A177-3AD203B41FA5}">
                      <a16:colId xmlns:a16="http://schemas.microsoft.com/office/drawing/2014/main" val="2207985198"/>
                    </a:ext>
                  </a:extLst>
                </a:gridCol>
              </a:tblGrid>
              <a:tr h="5531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Constante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Resultado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Leitura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698529"/>
                  </a:ext>
                </a:extLst>
              </a:tr>
              <a:tr h="5531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kS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0,241 V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plausível e consistente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19121"/>
                  </a:ext>
                </a:extLst>
              </a:tr>
              <a:tr h="5531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kV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2,337 V/(m/s)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muito coerente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477830"/>
                  </a:ext>
                </a:extLst>
              </a:tr>
              <a:tr h="930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kA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0,081 V/(m/s²)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positivo, mas requer cautela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528024"/>
                  </a:ext>
                </a:extLst>
              </a:tr>
              <a:tr h="930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Acceleration R²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0,212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ajuste fraco para aceleração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00116"/>
                  </a:ext>
                </a:extLst>
              </a:tr>
              <a:tr h="9302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Simulation Velocity R²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2500" b="1" i="0" u="none" strike="noStrike">
                          <a:effectLst/>
                          <a:latin typeface="Arial" panose="020B0604020202020204" pitchFamily="34" charset="0"/>
                        </a:rPr>
                        <a:t>0,946</a:t>
                      </a:r>
                      <a:endParaRPr lang="pt-BR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500" b="0" i="0" u="none" strike="noStrike">
                          <a:effectLst/>
                          <a:latin typeface="Arial" panose="020B0604020202020204" pitchFamily="34" charset="0"/>
                        </a:rPr>
                        <a:t>excelente correspondência</a:t>
                      </a:r>
                    </a:p>
                  </a:txBody>
                  <a:tcPr marL="125715" marR="125715" marT="62857" marB="628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339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6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05AC0-1CAD-A3A4-A552-0E49046683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Realizar Novamente Testes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6AAD1F-6C78-0759-42A8-731F8469B0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Aumentando </a:t>
            </a:r>
            <a:r>
              <a:rPr lang="pt-BR"/>
              <a:t>a velocidade</a:t>
            </a:r>
          </a:p>
        </p:txBody>
      </p:sp>
    </p:spTree>
    <p:extLst>
      <p:ext uri="{BB962C8B-B14F-4D97-AF65-F5344CB8AC3E}">
        <p14:creationId xmlns:p14="http://schemas.microsoft.com/office/powerpoint/2010/main" val="1170234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4440524-6EC7-A285-4D6A-452F43C0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2358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E33EDE8-5357-64D0-16B4-C60549F7E362}"/>
              </a:ext>
            </a:extLst>
          </p:cNvPr>
          <p:cNvSpPr txBox="1"/>
          <p:nvPr/>
        </p:nvSpPr>
        <p:spPr>
          <a:xfrm>
            <a:off x="6918960" y="1105671"/>
            <a:ext cx="4744720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driveGains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Slot0Configs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0.26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0.108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withKA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9992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3A9B5DF-E33B-FE3A-6DEB-0767E9E16DAF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Agora fechamos os quatro módulos com um conjunto bem consistente: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3877C34-7E6C-A7E0-7575-9C046E7FD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296435"/>
              </p:ext>
            </p:extLst>
          </p:nvPr>
        </p:nvGraphicFramePr>
        <p:xfrm>
          <a:off x="4901184" y="2225305"/>
          <a:ext cx="6922011" cy="2507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70">
                  <a:extLst>
                    <a:ext uri="{9D8B030D-6E8A-4147-A177-3AD203B41FA5}">
                      <a16:colId xmlns:a16="http://schemas.microsoft.com/office/drawing/2014/main" val="305712740"/>
                    </a:ext>
                  </a:extLst>
                </a:gridCol>
                <a:gridCol w="1251201">
                  <a:extLst>
                    <a:ext uri="{9D8B030D-6E8A-4147-A177-3AD203B41FA5}">
                      <a16:colId xmlns:a16="http://schemas.microsoft.com/office/drawing/2014/main" val="3901160340"/>
                    </a:ext>
                  </a:extLst>
                </a:gridCol>
                <a:gridCol w="1111869">
                  <a:extLst>
                    <a:ext uri="{9D8B030D-6E8A-4147-A177-3AD203B41FA5}">
                      <a16:colId xmlns:a16="http://schemas.microsoft.com/office/drawing/2014/main" val="3356371593"/>
                    </a:ext>
                  </a:extLst>
                </a:gridCol>
                <a:gridCol w="1251201">
                  <a:extLst>
                    <a:ext uri="{9D8B030D-6E8A-4147-A177-3AD203B41FA5}">
                      <a16:colId xmlns:a16="http://schemas.microsoft.com/office/drawing/2014/main" val="1246572903"/>
                    </a:ext>
                  </a:extLst>
                </a:gridCol>
                <a:gridCol w="1111869">
                  <a:extLst>
                    <a:ext uri="{9D8B030D-6E8A-4147-A177-3AD203B41FA5}">
                      <a16:colId xmlns:a16="http://schemas.microsoft.com/office/drawing/2014/main" val="2983193081"/>
                    </a:ext>
                  </a:extLst>
                </a:gridCol>
                <a:gridCol w="1209401">
                  <a:extLst>
                    <a:ext uri="{9D8B030D-6E8A-4147-A177-3AD203B41FA5}">
                      <a16:colId xmlns:a16="http://schemas.microsoft.com/office/drawing/2014/main" val="2095669877"/>
                    </a:ext>
                  </a:extLst>
                </a:gridCol>
              </a:tblGrid>
              <a:tr h="7423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Motor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kS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kV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kA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Accel. R²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Sim Vel R²</a:t>
                      </a:r>
                    </a:p>
                  </a:txBody>
                  <a:tcPr marL="100319" marR="100319" marT="50159" marB="50159" anchor="ctr"/>
                </a:tc>
                <a:extLst>
                  <a:ext uri="{0D108BD9-81ED-4DB2-BD59-A6C34878D82A}">
                    <a16:rowId xmlns:a16="http://schemas.microsoft.com/office/drawing/2014/main" val="172186243"/>
                  </a:ext>
                </a:extLst>
              </a:tr>
              <a:tr h="44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ID 13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0,26566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2,2868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0,03596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0,8039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0,9731</a:t>
                      </a:r>
                    </a:p>
                  </a:txBody>
                  <a:tcPr marL="100319" marR="100319" marT="50159" marB="50159" anchor="ctr"/>
                </a:tc>
                <a:extLst>
                  <a:ext uri="{0D108BD9-81ED-4DB2-BD59-A6C34878D82A}">
                    <a16:rowId xmlns:a16="http://schemas.microsoft.com/office/drawing/2014/main" val="592553706"/>
                  </a:ext>
                </a:extLst>
              </a:tr>
              <a:tr h="44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ID 14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0,26029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2,3215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0,04110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0,7758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0,9723</a:t>
                      </a:r>
                    </a:p>
                  </a:txBody>
                  <a:tcPr marL="100319" marR="100319" marT="50159" marB="50159" anchor="ctr"/>
                </a:tc>
                <a:extLst>
                  <a:ext uri="{0D108BD9-81ED-4DB2-BD59-A6C34878D82A}">
                    <a16:rowId xmlns:a16="http://schemas.microsoft.com/office/drawing/2014/main" val="1371732908"/>
                  </a:ext>
                </a:extLst>
              </a:tr>
              <a:tr h="44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ID 17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0,25631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2,2698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0,03989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0,8344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0,9740</a:t>
                      </a:r>
                    </a:p>
                  </a:txBody>
                  <a:tcPr marL="100319" marR="100319" marT="50159" marB="50159" anchor="ctr"/>
                </a:tc>
                <a:extLst>
                  <a:ext uri="{0D108BD9-81ED-4DB2-BD59-A6C34878D82A}">
                    <a16:rowId xmlns:a16="http://schemas.microsoft.com/office/drawing/2014/main" val="729303519"/>
                  </a:ext>
                </a:extLst>
              </a:tr>
              <a:tr h="441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ID 19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0,25483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2,2826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0,03683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0,7971</a:t>
                      </a:r>
                    </a:p>
                  </a:txBody>
                  <a:tcPr marL="100319" marR="100319" marT="50159" marB="501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0,9724</a:t>
                      </a:r>
                    </a:p>
                  </a:txBody>
                  <a:tcPr marL="100319" marR="100319" marT="50159" marB="50159" anchor="ctr"/>
                </a:tc>
                <a:extLst>
                  <a:ext uri="{0D108BD9-81ED-4DB2-BD59-A6C34878D82A}">
                    <a16:rowId xmlns:a16="http://schemas.microsoft.com/office/drawing/2014/main" val="175819933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D091BF4F-68B9-2D88-6D55-FBDFD3563AF5}"/>
              </a:ext>
            </a:extLst>
          </p:cNvPr>
          <p:cNvSpPr txBox="1"/>
          <p:nvPr/>
        </p:nvSpPr>
        <p:spPr>
          <a:xfrm>
            <a:off x="2963672" y="5195476"/>
            <a:ext cx="6121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SysId</a:t>
            </a:r>
            <a:r>
              <a:rPr lang="pt-BR" dirty="0"/>
              <a:t> Drive ✅ </a:t>
            </a:r>
            <a:r>
              <a:rPr lang="pt-BR" dirty="0" err="1"/>
              <a:t>kS</a:t>
            </a:r>
            <a:r>
              <a:rPr lang="pt-BR" dirty="0"/>
              <a:t> caracterizado ✅ kV caracterizado ✅ kA identificado (~0,038) ✅ Conversão para Phoenix ✅ Validação </a:t>
            </a:r>
            <a:r>
              <a:rPr lang="pt-BR" dirty="0" err="1"/>
              <a:t>Setpoint</a:t>
            </a:r>
            <a:r>
              <a:rPr lang="pt-BR" dirty="0"/>
              <a:t> x </a:t>
            </a:r>
            <a:r>
              <a:rPr lang="pt-BR" dirty="0" err="1"/>
              <a:t>Measured</a:t>
            </a:r>
            <a:r>
              <a:rPr lang="pt-BR" dirty="0"/>
              <a:t> ✅ Drive </a:t>
            </a:r>
            <a:r>
              <a:rPr lang="pt-BR" dirty="0" err="1"/>
              <a:t>Feedforward</a:t>
            </a:r>
            <a:r>
              <a:rPr lang="pt-BR" dirty="0"/>
              <a:t> ✅ FECHADO</a:t>
            </a:r>
          </a:p>
        </p:txBody>
      </p:sp>
    </p:spTree>
    <p:extLst>
      <p:ext uri="{BB962C8B-B14F-4D97-AF65-F5344CB8AC3E}">
        <p14:creationId xmlns:p14="http://schemas.microsoft.com/office/powerpoint/2010/main" val="17167042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372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Tema do Office</vt:lpstr>
      <vt:lpstr>Testar Motores de Drive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TalonFX-17 (Back Left), a tabela no mesmo estilo fica assim:</vt:lpstr>
      <vt:lpstr>Apresentação do PowerPoint</vt:lpstr>
      <vt:lpstr>Apresentação do PowerPoint</vt:lpstr>
      <vt:lpstr>TalonFX-14 (Back RIGHT), a tabela no mesmo estilo fica assim:</vt:lpstr>
      <vt:lpstr>Realizar Novamente Testes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10</cp:revision>
  <dcterms:created xsi:type="dcterms:W3CDTF">2026-09-23T19:52:39Z</dcterms:created>
  <dcterms:modified xsi:type="dcterms:W3CDTF">2026-09-24T17:58:39Z</dcterms:modified>
</cp:coreProperties>
</file>