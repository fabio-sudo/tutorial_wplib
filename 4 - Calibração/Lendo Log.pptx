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0" r:id="rId2"/>
    <p:sldId id="283" r:id="rId3"/>
    <p:sldId id="284" r:id="rId4"/>
    <p:sldId id="285" r:id="rId5"/>
    <p:sldId id="286" r:id="rId6"/>
    <p:sldId id="287" r:id="rId7"/>
    <p:sldId id="288" r:id="rId8"/>
    <p:sldId id="289" r:id="rId9"/>
    <p:sldId id="292" r:id="rId10"/>
    <p:sldId id="294" r:id="rId11"/>
    <p:sldId id="291" r:id="rId12"/>
    <p:sldId id="293" r:id="rId13"/>
    <p:sldId id="295" r:id="rId14"/>
    <p:sldId id="296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D2DFD-CB8B-FD29-4CD8-5CB0BF5F2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BD50E0-A6F7-10F3-34EB-A67A4A5662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1A49CE-E83B-4852-EE30-D53F1D6E7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16010E1-CB55-4F5B-D021-CFB09D04D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43B6A66-81DB-8040-E437-731D3C9E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3398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6B266-9646-0F2B-2637-20A430431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EF2D2F-8F86-B92F-B4A3-6C1A84D33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7F412F-EB5F-E11C-A8A0-BCB24D602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AB25D4-1E76-FBDA-58B1-269BEA31A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BF1741B-924D-3E48-6AAA-A0C5033AB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4701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111C6-E47B-4ABF-8E99-A2F467FED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AF35FEB-2A13-9212-809E-DBB66B3CB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528C6B-473C-9764-4EA6-73902189A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49ADADD-7142-3861-E612-63C6A0CCA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AA486B-5BCD-AEE3-3C39-DE744E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8548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E47E6-BC17-0681-2C5D-CE432D5F8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72C909-51AD-1717-6102-80F8F1F2D8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DC8D699-D4D3-09B2-AB77-46DB56827D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2BA61D0-D18C-083A-100A-3D9C909AA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7CAC734-E8CD-D131-275A-A05D1A139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0AD7807-4062-57DD-3B64-39B01CAA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082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863B35-0070-ADCB-6FB2-17003CBD8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7EC8981-1EBF-74D5-2E0B-B3AD1134B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43E387-DEE0-E94F-9241-2350920BA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992BDA7-89A3-E905-125D-2DB5B69461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C8262B2-2D72-24AF-D082-CE8170226F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EDF0CD4-A56B-75CC-5AC5-2BF4F8DB8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50B16AF-8902-E332-6DB2-AB55B5E23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6A91692-5F31-3D38-110A-461E9C68D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0859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C5D73E-CA86-D96F-8BB8-9335FB008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D2CCCE7-E25A-D20E-B32F-EA39B8C46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9EF879A-E5A4-CE5A-4AB9-10D4B0F25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C3126F5-87FB-6E00-C11C-BA5030ED5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26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18C077C-70E2-6301-3F1F-DD1942B2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3AE3B93-E079-CDFA-9A6C-B1D40B1F9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C592D4-3065-00B4-B764-D4D97634E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487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CD2673-483F-CA62-8DFB-B4F0BADA2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254BD7-5460-A6C2-0928-139E89EF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1FD3862-13F3-10D1-4355-757C65F989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A745833-F196-9EDA-BA14-E75F0B92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30A1FB2-F7C7-B238-45A6-C604B07D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870F865-42A1-2375-11A6-5CB38987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177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5A819-018A-E2A3-0EDD-2A9C2093F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7FB42C3-432F-A1C3-16B5-D573C5DA1B8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F4024A6-129E-E2EC-36CF-0EB9F7393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B91A03B-992A-B89E-9CF8-692FF46B4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278D40C-389B-CAB5-EF10-34C0CD467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52B3DE3-C7BB-E68B-91EE-6CD3C597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8798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710321-788C-552F-130D-DF5F70690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33E4A6F-657E-CE0E-5E40-C85F96F99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E55D6C0-402A-49E8-964A-199BECD74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E0444B9-BACB-B420-22C6-4552357BC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635FF1-ECFA-27B5-80C7-395DB57C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166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643CE1-912A-5511-77FE-CC31FDDA7C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0873EA5-504B-AE04-ED39-C1B04260D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44EC5A-69EF-507B-4D51-AEC244095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5C0680-37F7-06DB-B23C-302E3D7CD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8BAA994-7DF7-8B39-A2C8-7DE71F0DB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18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BF3DAF9-3A82-FBD9-63A1-9E24AAE67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55A27F-EC2C-E3AD-761F-56FEE11E9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6D7F28C-8D4B-A20F-093B-F2395EC7E0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C2D6C-CD43-49C3-BA7B-151C84375194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421019-1691-C5AE-0B7C-4520F7781F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7A4928-8660-9DDC-94FD-D67F063BF9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4B5A8D-D8DC-41BA-8848-941FBD37A1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2114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EF1773-008D-56CD-9B04-C001CC3B64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pt-BR" sz="7200"/>
              <a:t>Testar Motores de Drive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9DEF9C4-C9BC-5689-64BB-0C67C0A62E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r>
              <a:rPr lang="pt-BR" dirty="0"/>
              <a:t>13 – 19 – 14 - 17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932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33E90FD-7DF2-C613-D202-CCB3F1996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118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078C881-6A46-0CD0-CCDA-82EECFE561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3739C6E3-7D54-311B-935D-68FC38C5B1C0}"/>
              </a:ext>
            </a:extLst>
          </p:cNvPr>
          <p:cNvSpPr/>
          <p:nvPr/>
        </p:nvSpPr>
        <p:spPr>
          <a:xfrm rot="14924046">
            <a:off x="326872" y="829617"/>
            <a:ext cx="767255" cy="7672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47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07D685-57C5-F113-193D-D15551F96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8DEECA1F-3107-39C1-9208-791F9462D149}"/>
              </a:ext>
            </a:extLst>
          </p:cNvPr>
          <p:cNvCxnSpPr/>
          <p:nvPr/>
        </p:nvCxnSpPr>
        <p:spPr>
          <a:xfrm>
            <a:off x="457200" y="3647440"/>
            <a:ext cx="2479040" cy="1717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E0EBC571-C2AE-CE23-80C6-B12AF259CFA8}"/>
              </a:ext>
            </a:extLst>
          </p:cNvPr>
          <p:cNvSpPr/>
          <p:nvPr/>
        </p:nvSpPr>
        <p:spPr>
          <a:xfrm>
            <a:off x="2250440" y="5278120"/>
            <a:ext cx="538480" cy="5486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6766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41DDEB-2865-C4AF-8389-0CFE7C18C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17187" cy="6858000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D8501149-ED53-8DB5-6888-8F868BB5F290}"/>
              </a:ext>
            </a:extLst>
          </p:cNvPr>
          <p:cNvCxnSpPr/>
          <p:nvPr/>
        </p:nvCxnSpPr>
        <p:spPr>
          <a:xfrm>
            <a:off x="1671145" y="5675586"/>
            <a:ext cx="1492469" cy="388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4F6D7BC8-6B6B-FEC2-4825-31CC2EB37515}"/>
              </a:ext>
            </a:extLst>
          </p:cNvPr>
          <p:cNvSpPr/>
          <p:nvPr/>
        </p:nvSpPr>
        <p:spPr>
          <a:xfrm rot="9259108">
            <a:off x="4969359" y="5602189"/>
            <a:ext cx="1330960" cy="9245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7584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11FDA76-DE2C-E6BD-A693-02266252F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4404"/>
            <a:ext cx="6469680" cy="6962403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6D6AC62B-CB44-8715-9A2A-0A84E9CD9A22}"/>
              </a:ext>
            </a:extLst>
          </p:cNvPr>
          <p:cNvCxnSpPr>
            <a:cxnSpLocks/>
          </p:cNvCxnSpPr>
          <p:nvPr/>
        </p:nvCxnSpPr>
        <p:spPr>
          <a:xfrm>
            <a:off x="840828" y="5339255"/>
            <a:ext cx="2301765" cy="409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DBEDFCF3-0825-0B83-E784-572EC7E0B2AE}"/>
              </a:ext>
            </a:extLst>
          </p:cNvPr>
          <p:cNvSpPr/>
          <p:nvPr/>
        </p:nvSpPr>
        <p:spPr>
          <a:xfrm rot="9259108">
            <a:off x="4630441" y="5581988"/>
            <a:ext cx="1330960" cy="9245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9914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DACFAE5-37CF-3797-AEB9-6889E6073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62746" cy="6858000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304496DF-E4B6-974C-17C8-9911B333CE40}"/>
              </a:ext>
            </a:extLst>
          </p:cNvPr>
          <p:cNvCxnSpPr/>
          <p:nvPr/>
        </p:nvCxnSpPr>
        <p:spPr>
          <a:xfrm>
            <a:off x="893379" y="3429000"/>
            <a:ext cx="2175642" cy="24778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8D4C8D9D-755F-7772-4F5C-094936B7C9FC}"/>
              </a:ext>
            </a:extLst>
          </p:cNvPr>
          <p:cNvSpPr/>
          <p:nvPr/>
        </p:nvSpPr>
        <p:spPr>
          <a:xfrm rot="9259108">
            <a:off x="4531360" y="5690708"/>
            <a:ext cx="1330960" cy="9245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8485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A41A258-553A-3838-1788-776A486DD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537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11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E07FEC2-8637-B711-9838-4E527068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136" y="951798"/>
            <a:ext cx="10175631" cy="1111843"/>
          </a:xfrm>
        </p:spPr>
        <p:txBody>
          <a:bodyPr anchor="ctr">
            <a:normAutofit/>
          </a:bodyPr>
          <a:lstStyle/>
          <a:p>
            <a:pPr algn="ctr"/>
            <a:r>
              <a:rPr lang="pt-BR" sz="3700" b="1" dirty="0"/>
              <a:t>TalonFX-17 (Back </a:t>
            </a:r>
            <a:r>
              <a:rPr lang="pt-BR" sz="3700" b="1" dirty="0" err="1"/>
              <a:t>Left</a:t>
            </a:r>
            <a:r>
              <a:rPr lang="pt-BR" sz="3700" b="1" dirty="0"/>
              <a:t>)</a:t>
            </a:r>
            <a:r>
              <a:rPr lang="pt-BR" sz="3700" dirty="0"/>
              <a:t>, a tabela no mesmo estilo fica assim:</a:t>
            </a:r>
          </a:p>
        </p:txBody>
      </p:sp>
      <p:graphicFrame>
        <p:nvGraphicFramePr>
          <p:cNvPr id="7" name="Espaço Reservado para Conteúdo 3">
            <a:extLst>
              <a:ext uri="{FF2B5EF4-FFF2-40B4-BE49-F238E27FC236}">
                <a16:creationId xmlns:a16="http://schemas.microsoft.com/office/drawing/2014/main" id="{1FB9570B-0B90-D284-0ABD-F2264B0E822B}"/>
              </a:ext>
            </a:extLst>
          </p:cNvPr>
          <p:cNvGraphicFramePr>
            <a:graphicFrameLocks/>
          </p:cNvGraphicFramePr>
          <p:nvPr/>
        </p:nvGraphicFramePr>
        <p:xfrm>
          <a:off x="1250470" y="2405149"/>
          <a:ext cx="9684964" cy="389939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3356474">
                  <a:extLst>
                    <a:ext uri="{9D8B030D-6E8A-4147-A177-3AD203B41FA5}">
                      <a16:colId xmlns:a16="http://schemas.microsoft.com/office/drawing/2014/main" val="2515538728"/>
                    </a:ext>
                  </a:extLst>
                </a:gridCol>
                <a:gridCol w="2320112">
                  <a:extLst>
                    <a:ext uri="{9D8B030D-6E8A-4147-A177-3AD203B41FA5}">
                      <a16:colId xmlns:a16="http://schemas.microsoft.com/office/drawing/2014/main" val="2829874598"/>
                    </a:ext>
                  </a:extLst>
                </a:gridCol>
                <a:gridCol w="4008378">
                  <a:extLst>
                    <a:ext uri="{9D8B030D-6E8A-4147-A177-3AD203B41FA5}">
                      <a16:colId xmlns:a16="http://schemas.microsoft.com/office/drawing/2014/main" val="1589772739"/>
                    </a:ext>
                  </a:extLst>
                </a:gridCol>
              </a:tblGrid>
              <a:tr h="529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Constante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Resultado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Leitura</a:t>
                      </a:r>
                    </a:p>
                  </a:txBody>
                  <a:tcPr marL="120352" marR="120352" marT="60176" marB="60176" anchor="ctr"/>
                </a:tc>
                <a:extLst>
                  <a:ext uri="{0D108BD9-81ED-4DB2-BD59-A6C34878D82A}">
                    <a16:rowId xmlns:a16="http://schemas.microsoft.com/office/drawing/2014/main" val="2559676535"/>
                  </a:ext>
                </a:extLst>
              </a:tr>
              <a:tr h="529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kS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0,241 V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plausível e consistente</a:t>
                      </a:r>
                    </a:p>
                  </a:txBody>
                  <a:tcPr marL="120352" marR="120352" marT="60176" marB="60176" anchor="ctr"/>
                </a:tc>
                <a:extLst>
                  <a:ext uri="{0D108BD9-81ED-4DB2-BD59-A6C34878D82A}">
                    <a16:rowId xmlns:a16="http://schemas.microsoft.com/office/drawing/2014/main" val="2781001366"/>
                  </a:ext>
                </a:extLst>
              </a:tr>
              <a:tr h="529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kV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2,337 V/(m/s)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muito coerente</a:t>
                      </a:r>
                    </a:p>
                  </a:txBody>
                  <a:tcPr marL="120352" marR="120352" marT="60176" marB="60176" anchor="ctr"/>
                </a:tc>
                <a:extLst>
                  <a:ext uri="{0D108BD9-81ED-4DB2-BD59-A6C34878D82A}">
                    <a16:rowId xmlns:a16="http://schemas.microsoft.com/office/drawing/2014/main" val="3445976532"/>
                  </a:ext>
                </a:extLst>
              </a:tr>
              <a:tr h="89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kA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0,081 V/(m/s²)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positivo, mas com menor confiança</a:t>
                      </a:r>
                    </a:p>
                  </a:txBody>
                  <a:tcPr marL="120352" marR="120352" marT="60176" marB="60176" anchor="ctr"/>
                </a:tc>
                <a:extLst>
                  <a:ext uri="{0D108BD9-81ED-4DB2-BD59-A6C34878D82A}">
                    <a16:rowId xmlns:a16="http://schemas.microsoft.com/office/drawing/2014/main" val="459039310"/>
                  </a:ext>
                </a:extLst>
              </a:tr>
              <a:tr h="89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Acceleration R²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0,212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ajuste fraco para aceleração</a:t>
                      </a:r>
                    </a:p>
                  </a:txBody>
                  <a:tcPr marL="120352" marR="120352" marT="60176" marB="60176" anchor="ctr"/>
                </a:tc>
                <a:extLst>
                  <a:ext uri="{0D108BD9-81ED-4DB2-BD59-A6C34878D82A}">
                    <a16:rowId xmlns:a16="http://schemas.microsoft.com/office/drawing/2014/main" val="3823670794"/>
                  </a:ext>
                </a:extLst>
              </a:tr>
              <a:tr h="529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Simulation Velocity R²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0,946</a:t>
                      </a:r>
                    </a:p>
                  </a:txBody>
                  <a:tcPr marL="120352" marR="120352" marT="60176" marB="601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400"/>
                        <a:t>excelente correspondência</a:t>
                      </a:r>
                    </a:p>
                  </a:txBody>
                  <a:tcPr marL="120352" marR="120352" marT="60176" marB="60176" anchor="ctr"/>
                </a:tc>
                <a:extLst>
                  <a:ext uri="{0D108BD9-81ED-4DB2-BD59-A6C34878D82A}">
                    <a16:rowId xmlns:a16="http://schemas.microsoft.com/office/drawing/2014/main" val="2614068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094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300E06F-29D1-EE5B-0664-4D600F6190F4}"/>
              </a:ext>
            </a:extLst>
          </p:cNvPr>
          <p:cNvSpPr txBox="1"/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3700" b="1"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TalonFX-13 (Front Left), a tabela no mesmo estilo fica assim:</a:t>
            </a: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48208F74-5A9F-FF72-194B-DC738CC31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136016"/>
              </p:ext>
            </p:extLst>
          </p:nvPr>
        </p:nvGraphicFramePr>
        <p:xfrm>
          <a:off x="882641" y="1845426"/>
          <a:ext cx="10423666" cy="4450308"/>
        </p:xfrm>
        <a:graphic>
          <a:graphicData uri="http://schemas.openxmlformats.org/drawingml/2006/table">
            <a:tbl>
              <a:tblPr>
                <a:noFill/>
                <a:tableStyleId>{5C22544A-7EE6-4342-B048-85BDC9FD1C3A}</a:tableStyleId>
              </a:tblPr>
              <a:tblGrid>
                <a:gridCol w="3550497">
                  <a:extLst>
                    <a:ext uri="{9D8B030D-6E8A-4147-A177-3AD203B41FA5}">
                      <a16:colId xmlns:a16="http://schemas.microsoft.com/office/drawing/2014/main" val="2430398999"/>
                    </a:ext>
                  </a:extLst>
                </a:gridCol>
                <a:gridCol w="2642500">
                  <a:extLst>
                    <a:ext uri="{9D8B030D-6E8A-4147-A177-3AD203B41FA5}">
                      <a16:colId xmlns:a16="http://schemas.microsoft.com/office/drawing/2014/main" val="3198279022"/>
                    </a:ext>
                  </a:extLst>
                </a:gridCol>
                <a:gridCol w="4230669">
                  <a:extLst>
                    <a:ext uri="{9D8B030D-6E8A-4147-A177-3AD203B41FA5}">
                      <a16:colId xmlns:a16="http://schemas.microsoft.com/office/drawing/2014/main" val="854590343"/>
                    </a:ext>
                  </a:extLst>
                </a:gridCol>
              </a:tblGrid>
              <a:tr h="741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Constante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Resultado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Leitura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206619"/>
                  </a:ext>
                </a:extLst>
              </a:tr>
              <a:tr h="741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kS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0,240 V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muito coerente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698216"/>
                  </a:ext>
                </a:extLst>
              </a:tr>
              <a:tr h="741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kV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2,325 V/(m/s)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muito coerente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097188"/>
                  </a:ext>
                </a:extLst>
              </a:tr>
              <a:tr h="741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kA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0,0586 V/(m/s²)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positivo e plausível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356727"/>
                  </a:ext>
                </a:extLst>
              </a:tr>
              <a:tr h="741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Acceleration R²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0,253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ainda baixo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4756096"/>
                  </a:ext>
                </a:extLst>
              </a:tr>
              <a:tr h="741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Simulation Velocity R²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0,953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500" cap="none" spc="0">
                          <a:solidFill>
                            <a:schemeClr val="tx1"/>
                          </a:solidFill>
                        </a:rPr>
                        <a:t>excelente correspondência</a:t>
                      </a:r>
                    </a:p>
                  </a:txBody>
                  <a:tcPr marL="133129" marR="95092" marT="95092" marB="19018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73794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7794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938EECD-A915-3D87-61C9-FAFC4D39EC1D}"/>
              </a:ext>
            </a:extLst>
          </p:cNvPr>
          <p:cNvSpPr txBox="1"/>
          <p:nvPr/>
        </p:nvSpPr>
        <p:spPr>
          <a:xfrm>
            <a:off x="1008184" y="1459907"/>
            <a:ext cx="10175630" cy="7679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3700" b="1"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TalonFX-19 (Front </a:t>
            </a:r>
            <a:r>
              <a:rPr lang="pt-BR" dirty="0" err="1"/>
              <a:t>Right</a:t>
            </a:r>
            <a:r>
              <a:rPr lang="pt-BR" dirty="0"/>
              <a:t>), a tabela no mesmo estilo fica assim:</a:t>
            </a:r>
            <a:endParaRPr lang="en-US" dirty="0"/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81D2EC1A-C30C-60F5-026A-0E76D16C9C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2880309"/>
              </p:ext>
            </p:extLst>
          </p:nvPr>
        </p:nvGraphicFramePr>
        <p:xfrm>
          <a:off x="835154" y="2631769"/>
          <a:ext cx="10515596" cy="3446154"/>
        </p:xfrm>
        <a:graphic>
          <a:graphicData uri="http://schemas.openxmlformats.org/drawingml/2006/table">
            <a:tbl>
              <a:tblPr>
                <a:noFill/>
                <a:tableStyleId>{5C22544A-7EE6-4342-B048-85BDC9FD1C3A}</a:tableStyleId>
              </a:tblPr>
              <a:tblGrid>
                <a:gridCol w="3623704">
                  <a:extLst>
                    <a:ext uri="{9D8B030D-6E8A-4147-A177-3AD203B41FA5}">
                      <a16:colId xmlns:a16="http://schemas.microsoft.com/office/drawing/2014/main" val="77326998"/>
                    </a:ext>
                  </a:extLst>
                </a:gridCol>
                <a:gridCol w="2484336">
                  <a:extLst>
                    <a:ext uri="{9D8B030D-6E8A-4147-A177-3AD203B41FA5}">
                      <a16:colId xmlns:a16="http://schemas.microsoft.com/office/drawing/2014/main" val="3922325877"/>
                    </a:ext>
                  </a:extLst>
                </a:gridCol>
                <a:gridCol w="4407556">
                  <a:extLst>
                    <a:ext uri="{9D8B030D-6E8A-4147-A177-3AD203B41FA5}">
                      <a16:colId xmlns:a16="http://schemas.microsoft.com/office/drawing/2014/main" val="3438941210"/>
                    </a:ext>
                  </a:extLst>
                </a:gridCol>
              </a:tblGrid>
              <a:tr h="57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Constante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Resultado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Leitura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532550"/>
                  </a:ext>
                </a:extLst>
              </a:tr>
              <a:tr h="57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kS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0,251 V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plausível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90387"/>
                  </a:ext>
                </a:extLst>
              </a:tr>
              <a:tr h="57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kV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2,285 V/(m/s)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muito coerente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9149344"/>
                  </a:ext>
                </a:extLst>
              </a:tr>
              <a:tr h="57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kA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0,036 V/(m/s²)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positivo e utilizável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933652"/>
                  </a:ext>
                </a:extLst>
              </a:tr>
              <a:tr h="57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Acceleration R²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0,824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ajuste razoavelmente bom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9983733"/>
                  </a:ext>
                </a:extLst>
              </a:tr>
              <a:tr h="57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 dirty="0" err="1">
                          <a:solidFill>
                            <a:schemeClr val="tx1"/>
                          </a:solidFill>
                        </a:rPr>
                        <a:t>Simulation</a:t>
                      </a:r>
                      <a:r>
                        <a:rPr lang="pt-BR" sz="17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pt-BR" sz="1700" cap="none" spc="0" dirty="0" err="1">
                          <a:solidFill>
                            <a:schemeClr val="tx1"/>
                          </a:solidFill>
                        </a:rPr>
                        <a:t>Velocity</a:t>
                      </a:r>
                      <a:r>
                        <a:rPr lang="pt-BR" sz="1700" cap="none" spc="0" dirty="0">
                          <a:solidFill>
                            <a:schemeClr val="tx1"/>
                          </a:solidFill>
                        </a:rPr>
                        <a:t> R²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>
                          <a:solidFill>
                            <a:schemeClr val="tx1"/>
                          </a:solidFill>
                        </a:rPr>
                        <a:t>0,976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 cap="none" spc="0" dirty="0">
                          <a:solidFill>
                            <a:schemeClr val="tx1"/>
                          </a:solidFill>
                        </a:rPr>
                        <a:t>excelente correspondência</a:t>
                      </a:r>
                    </a:p>
                  </a:txBody>
                  <a:tcPr marL="0" marR="76242" marT="30497" marB="22872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4494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7099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53942-6C82-6E8C-D18F-9937DA53C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770015-2B36-EFAA-A417-033C12745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TalonFX-14 (Back RIGHT)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a </a:t>
            </a: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tabela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no </a:t>
            </a: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mesmo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estilo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fica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assim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graphicFrame>
        <p:nvGraphicFramePr>
          <p:cNvPr id="23" name="Tabela 22">
            <a:extLst>
              <a:ext uri="{FF2B5EF4-FFF2-40B4-BE49-F238E27FC236}">
                <a16:creationId xmlns:a16="http://schemas.microsoft.com/office/drawing/2014/main" id="{8C938666-7CE4-704F-416B-832D67B29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911550"/>
              </p:ext>
            </p:extLst>
          </p:nvPr>
        </p:nvGraphicFramePr>
        <p:xfrm>
          <a:off x="1184613" y="1845426"/>
          <a:ext cx="9819722" cy="4450305"/>
        </p:xfrm>
        <a:graphic>
          <a:graphicData uri="http://schemas.openxmlformats.org/drawingml/2006/table">
            <a:tbl>
              <a:tblPr/>
              <a:tblGrid>
                <a:gridCol w="3750491">
                  <a:extLst>
                    <a:ext uri="{9D8B030D-6E8A-4147-A177-3AD203B41FA5}">
                      <a16:colId xmlns:a16="http://schemas.microsoft.com/office/drawing/2014/main" val="770042363"/>
                    </a:ext>
                  </a:extLst>
                </a:gridCol>
                <a:gridCol w="2458423">
                  <a:extLst>
                    <a:ext uri="{9D8B030D-6E8A-4147-A177-3AD203B41FA5}">
                      <a16:colId xmlns:a16="http://schemas.microsoft.com/office/drawing/2014/main" val="3326121664"/>
                    </a:ext>
                  </a:extLst>
                </a:gridCol>
                <a:gridCol w="3610808">
                  <a:extLst>
                    <a:ext uri="{9D8B030D-6E8A-4147-A177-3AD203B41FA5}">
                      <a16:colId xmlns:a16="http://schemas.microsoft.com/office/drawing/2014/main" val="2207985198"/>
                    </a:ext>
                  </a:extLst>
                </a:gridCol>
              </a:tblGrid>
              <a:tr h="5531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Constante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Resultado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Leitura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98529"/>
                  </a:ext>
                </a:extLst>
              </a:tr>
              <a:tr h="5531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kS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0,241 V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plausível e consistente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19121"/>
                  </a:ext>
                </a:extLst>
              </a:tr>
              <a:tr h="5531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kV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2,337 V/(m/s)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muito coerente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477830"/>
                  </a:ext>
                </a:extLst>
              </a:tr>
              <a:tr h="9302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kA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0,081 V/(m/s²)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positivo, mas requer cautela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528024"/>
                  </a:ext>
                </a:extLst>
              </a:tr>
              <a:tr h="9302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Acceleration R²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0,212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ajuste fraco para aceleração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00116"/>
                  </a:ext>
                </a:extLst>
              </a:tr>
              <a:tr h="9302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Simulation Velocity R²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2500" b="1" i="0" u="none" strike="noStrike">
                          <a:effectLst/>
                          <a:latin typeface="Arial" panose="020B0604020202020204" pitchFamily="34" charset="0"/>
                        </a:rPr>
                        <a:t>0,946</a:t>
                      </a:r>
                      <a:endParaRPr lang="pt-BR" sz="25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500" b="0" i="0" u="none" strike="noStrike">
                          <a:effectLst/>
                          <a:latin typeface="Arial" panose="020B0604020202020204" pitchFamily="34" charset="0"/>
                        </a:rPr>
                        <a:t>excelente correspondência</a:t>
                      </a:r>
                    </a:p>
                  </a:txBody>
                  <a:tcPr marL="125715" marR="125715" marT="62857" marB="62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339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796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5778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905AC0-1CAD-A3A4-A552-0E49046683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Realizar Novamente Testes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6AAD1F-6C78-0759-42A8-731F8469B0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Aumentando </a:t>
            </a:r>
            <a:r>
              <a:rPr lang="pt-BR"/>
              <a:t>a velocidade</a:t>
            </a:r>
          </a:p>
        </p:txBody>
      </p:sp>
    </p:spTree>
    <p:extLst>
      <p:ext uri="{BB962C8B-B14F-4D97-AF65-F5344CB8AC3E}">
        <p14:creationId xmlns:p14="http://schemas.microsoft.com/office/powerpoint/2010/main" val="1170234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240</Words>
  <Application>Microsoft Office PowerPoint</Application>
  <PresentationFormat>Widescreen</PresentationFormat>
  <Paragraphs>80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do Office</vt:lpstr>
      <vt:lpstr>Testar Motores de Drive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TalonFX-17 (Back Left), a tabela no mesmo estilo fica assim:</vt:lpstr>
      <vt:lpstr>Apresentação do PowerPoint</vt:lpstr>
      <vt:lpstr>Apresentação do PowerPoint</vt:lpstr>
      <vt:lpstr>TalonFX-14 (Back RIGHT), a tabela no mesmo estilo fica assim:</vt:lpstr>
      <vt:lpstr>Apresentação do PowerPoint</vt:lpstr>
      <vt:lpstr>Realizar Novamente Testes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6</cp:revision>
  <dcterms:created xsi:type="dcterms:W3CDTF">2026-09-23T19:52:39Z</dcterms:created>
  <dcterms:modified xsi:type="dcterms:W3CDTF">2026-09-23T21:33:39Z</dcterms:modified>
</cp:coreProperties>
</file>