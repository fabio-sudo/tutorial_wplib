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8" r:id="rId11"/>
    <p:sldId id="267" r:id="rId12"/>
    <p:sldId id="266" r:id="rId13"/>
    <p:sldId id="276" r:id="rId14"/>
    <p:sldId id="269" r:id="rId15"/>
    <p:sldId id="272" r:id="rId16"/>
    <p:sldId id="271" r:id="rId17"/>
    <p:sldId id="270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2" r:id="rId26"/>
    <p:sldId id="281" r:id="rId27"/>
    <p:sldId id="283" r:id="rId28"/>
    <p:sldId id="284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64AF3-F652-CD64-2409-0217B048F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F9F6E1-62A5-DB57-948E-A824DC328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311230-F8B9-A696-38A7-4860F3A9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4AEC0C-76F9-2A57-44B8-3DFC036D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96E94F-7706-BB2E-F5B9-9D852876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78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0B61D-95C8-D503-FACC-03C5EC32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FD0249-E355-A140-3EEA-9F408BC5F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3CEE40-11D4-0826-A5B9-F461330E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5FCC7A-3DE1-B857-519B-3D67EA8D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E1B4B-708A-F638-7786-BD9349F5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70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650A6-4272-AB58-1C4E-829CB1A4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59C7F5-CF4F-4670-7FC4-5CB0244ED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830436-A778-E371-A41D-3C12CD7D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F64098-A329-FD84-8CB5-CE0D53A3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59574-D3C6-B10B-2DCB-ECE9E9F3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910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1BF09-BC91-D9B8-288F-3E0A3074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3EFEEB-FC45-2723-492A-3CC1CFC7A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4DAB42-72D0-DD37-6F7B-755ABFB52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292F18-34E4-8463-3574-F6AE6AA7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F45381-D9DF-FF8D-0911-DBE922B4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56EEF5-D0D6-5996-ECD0-B506E63B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71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AA1A8-2C5A-0DF4-BA90-7E117432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7CF161-911C-2531-AE3A-81B4DFE2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842D68-2119-6AAE-05D7-3516C9653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D0991A-889B-1D5E-AEE2-2C3908B3C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0014FA-D4D4-1990-C4ED-FCD156E4E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602D8F-CD3B-8E68-29AE-4AD5BBFE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2BE202-82B7-40F4-B8AD-963D24F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4C95E3-018A-DFC1-8371-E3B55A1F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37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78440-D23A-C59C-7BED-7705BCC2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D97581C-8355-D300-3150-24CED71B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2DA5F4-396D-F3D0-9FDE-80D7ED9C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77EEE8-1529-99AD-CD64-5045A3BB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24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C37699-FD25-93F2-4E96-729F1A71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5D18CE-F420-15BC-429D-7365EAEC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F50C93-0A8B-15EA-9513-4F73ABC9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494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E1380-BD57-DFD7-8CDB-CD5A3389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90DFDD-70F3-7BAA-23C2-77B38840C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97DF23-61C8-0BF4-4A97-E4DF1173F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EAF663-96F2-E8AD-0134-47AE8812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5527F4-0B37-9270-A91A-F150CEB7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EA57A0-582D-3B33-B33E-5256525B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764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EB96A-3440-7BC9-0612-17B334F3B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968C1B-CAFB-C393-1C8A-B973073BA0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B9500C-3F90-DCEB-EF88-5D3509556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9C2FEF-EED9-D838-CBFA-09553AEB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F8CC41-36F4-F7CA-7BE9-C31E2767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7B74C7-A905-246D-4BAD-4A5F5854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73C75-4E1D-C214-1782-A029D23F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3B3D9A-0505-A42A-CE68-A60E814CB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C80B59-9EE1-CF81-20D2-13FC7C34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77F8FC-1F7A-6DCA-4868-FA5B4FC8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9BB69C-5000-47F1-CC87-81004C9A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3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AC545E-7FA0-8617-5141-B2C3A414B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0671CC-C742-2CA2-CF0D-71E3AB20E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58C2C3-C6CA-EA80-8033-2F694D59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984FF8-BA6D-CA20-6F93-745692C3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36A38B-CDED-7940-9378-C64A5F18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04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7C3B86-47A6-F867-11DC-18A45B92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D805E1-4294-5BCF-86CE-1B35AD53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096DC2-197C-7396-5777-E2ED13544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E989E-8FB6-4BEE-9671-66C43F67176A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1E160-B8FB-2EFC-69BD-CCD470F1A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270D3D-3434-1C67-96D1-A19BDF8E3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B4BD8-EC1D-4E3D-B0C2-61443C1BFB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8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59DFC-707C-0E8C-6224-72AFEB7A55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SysID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D64F8-2BF8-F3EF-DDAF-BBD0DB8A5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pt-BR" dirty="0" err="1"/>
              <a:t>kS</a:t>
            </a:r>
            <a:r>
              <a:rPr lang="pt-BR" dirty="0"/>
              <a:t> → tensão para vencer atrito </a:t>
            </a:r>
          </a:p>
          <a:p>
            <a:pPr algn="l"/>
            <a:r>
              <a:rPr lang="pt-BR" dirty="0"/>
              <a:t>kV → tensão necessária por velocidade </a:t>
            </a:r>
          </a:p>
          <a:p>
            <a:pPr algn="l"/>
            <a:r>
              <a:rPr lang="pt-BR" dirty="0"/>
              <a:t>kA → tensão associada à aceleração</a:t>
            </a:r>
          </a:p>
        </p:txBody>
      </p:sp>
    </p:spTree>
    <p:extLst>
      <p:ext uri="{BB962C8B-B14F-4D97-AF65-F5344CB8AC3E}">
        <p14:creationId xmlns:p14="http://schemas.microsoft.com/office/powerpoint/2010/main" val="3931544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F567A-3DFF-B64D-E9CA-698764803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depois vamos comparar: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8B600-AB06-40D7-1946-F7433EDD8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Nosso teste manual </a:t>
            </a:r>
            <a:r>
              <a:rPr lang="pt-BR" dirty="0" err="1"/>
              <a:t>kS</a:t>
            </a:r>
            <a:r>
              <a:rPr lang="pt-BR" dirty="0"/>
              <a:t> ≈ 0,40 V </a:t>
            </a:r>
          </a:p>
          <a:p>
            <a:endParaRPr lang="pt-BR" dirty="0"/>
          </a:p>
          <a:p>
            <a:r>
              <a:rPr lang="pt-BR" dirty="0"/>
              <a:t>VS Resultado do </a:t>
            </a:r>
            <a:r>
              <a:rPr lang="pt-BR" dirty="0" err="1"/>
              <a:t>SysId</a:t>
            </a:r>
            <a:r>
              <a:rPr lang="pt-BR" dirty="0"/>
              <a:t> </a:t>
            </a:r>
          </a:p>
          <a:p>
            <a:r>
              <a:rPr lang="pt-BR" dirty="0" err="1"/>
              <a:t>kS</a:t>
            </a:r>
            <a:r>
              <a:rPr lang="pt-BR" dirty="0"/>
              <a:t> = ? </a:t>
            </a:r>
          </a:p>
          <a:p>
            <a:r>
              <a:rPr lang="pt-BR" dirty="0"/>
              <a:t>kV = ? </a:t>
            </a:r>
          </a:p>
          <a:p>
            <a:r>
              <a:rPr lang="pt-BR" dirty="0"/>
              <a:t>kA = 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Aí sim teremos base para atualizar os ganhos do </a:t>
            </a:r>
            <a:r>
              <a:rPr lang="pt-BR" dirty="0" err="1"/>
              <a:t>ModuleIOTalonFX</a:t>
            </a:r>
            <a:r>
              <a:rPr lang="pt-BR" dirty="0"/>
              <a:t> no projeto de </a:t>
            </a:r>
            <a:r>
              <a:rPr lang="pt-BR" b="1" dirty="0"/>
              <a:t>Calibração</a:t>
            </a:r>
            <a:r>
              <a:rPr lang="pt-BR" dirty="0"/>
              <a:t>, repetir o Drive </a:t>
            </a:r>
            <a:r>
              <a:rPr lang="pt-BR" dirty="0" err="1"/>
              <a:t>Sweep</a:t>
            </a:r>
            <a:r>
              <a:rPr lang="pt-BR" dirty="0"/>
              <a:t> e, depois de validar, levar os valores finais para o projeto de </a:t>
            </a:r>
            <a:r>
              <a:rPr lang="pt-BR" b="1" dirty="0"/>
              <a:t>Competição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341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53E80-9A19-D801-ED3E-7C351901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4560" y="0"/>
            <a:ext cx="3647440" cy="1325563"/>
          </a:xfrm>
          <a:solidFill>
            <a:srgbClr val="00B050"/>
          </a:solidFill>
        </p:spPr>
        <p:txBody>
          <a:bodyPr/>
          <a:lstStyle/>
          <a:p>
            <a:pPr algn="r"/>
            <a:r>
              <a:rPr lang="pt-BR" b="1" dirty="0">
                <a:solidFill>
                  <a:schemeClr val="bg1"/>
                </a:solidFill>
              </a:rPr>
              <a:t>Module.java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02C7CAE-2160-9110-9176-0886015E3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095999" cy="685365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6BA9116-4736-C949-12C0-3D392BAEAE59}"/>
              </a:ext>
            </a:extLst>
          </p:cNvPr>
          <p:cNvSpPr txBox="1"/>
          <p:nvPr/>
        </p:nvSpPr>
        <p:spPr>
          <a:xfrm>
            <a:off x="6177280" y="1613273"/>
            <a:ext cx="5201920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SYSID - DADOS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REAL APLICADA AO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SysId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precisa saber qual tensão realmente chegou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ao motor.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Não usamos apenas a tensão solicitada porque nossa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proteção pode manter o motor em 0 V enquanto 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ainda não estiver alinhado.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02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61A87-294D-A246-A972-E4362112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00C305F-5741-5595-4DE7-5F9CD57DD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0972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084B3F2-8936-21AA-FDCD-132E8F8FED9E}"/>
              </a:ext>
            </a:extLst>
          </p:cNvPr>
          <p:cNvSpPr txBox="1"/>
          <p:nvPr/>
        </p:nvSpPr>
        <p:spPr>
          <a:xfrm>
            <a:off x="6480972" y="101294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SYSID - TENSÃO REAL DOS MOTORES DE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Retorna a tensão realmente medida/aplicada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em cada um dos quatro módulos.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Ordem: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=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= Front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=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Left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= Back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  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EFA1D5F-FDF8-3B12-2425-7ECF5613F8E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291249" cy="855636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Drive.java</a:t>
            </a:r>
          </a:p>
        </p:txBody>
      </p:sp>
    </p:spTree>
    <p:extLst>
      <p:ext uri="{BB962C8B-B14F-4D97-AF65-F5344CB8AC3E}">
        <p14:creationId xmlns:p14="http://schemas.microsoft.com/office/powerpoint/2010/main" val="202677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FD481C-B51A-8347-EF03-AE7ADE74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DriveSysId.java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654CD20-6E4E-3657-E2EE-C48A57FFD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546538"/>
            <a:ext cx="5536001" cy="58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372AD-7F42-7ACD-FF6B-EBE85EEF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fluxo será: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AA7D-C389-9ACE-DA98-34009BCA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588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A configuração oficial padrão do </a:t>
            </a:r>
            <a:r>
              <a:rPr lang="pt-BR" sz="2000" dirty="0" err="1"/>
              <a:t>WPILib</a:t>
            </a:r>
            <a:r>
              <a:rPr lang="pt-BR" sz="2000" dirty="0"/>
              <a:t> seria 1 V/s, 7 V no teste dinâmico e 10 s de timeout. Aqui estamos </a:t>
            </a:r>
            <a:r>
              <a:rPr lang="pt-BR" sz="2000" b="1" dirty="0"/>
              <a:t>deliberadamente usando valores menores</a:t>
            </a:r>
            <a:r>
              <a:rPr lang="pt-BR" sz="2000" dirty="0"/>
              <a:t> (0,5 V/s, 2 V, 4 s) porque seu Drive já possui uma trava de ±2 V e queremos validar primeiro o funcionamento com margem de segurança.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71E29C-ABE5-A8B5-ED0D-0332CAB9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2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6C83E-C236-6707-9DFC-F52D346D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Botões mapeados para testes.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4021C-5915-C08B-1CA8-D40FCFD15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BACK + LB → </a:t>
            </a:r>
            <a:r>
              <a:rPr lang="pt-BR" dirty="0" err="1"/>
              <a:t>Quasistatic</a:t>
            </a:r>
            <a:r>
              <a:rPr lang="pt-BR" dirty="0"/>
              <a:t> </a:t>
            </a:r>
            <a:r>
              <a:rPr lang="pt-BR" dirty="0" err="1"/>
              <a:t>Forward</a:t>
            </a:r>
            <a:r>
              <a:rPr lang="pt-BR" dirty="0"/>
              <a:t> </a:t>
            </a:r>
          </a:p>
          <a:p>
            <a:r>
              <a:rPr lang="pt-BR" dirty="0"/>
              <a:t>BACK + RB → </a:t>
            </a:r>
            <a:r>
              <a:rPr lang="pt-BR" dirty="0" err="1"/>
              <a:t>Quasistatic</a:t>
            </a:r>
            <a:r>
              <a:rPr lang="pt-BR" dirty="0"/>
              <a:t> Reverse </a:t>
            </a:r>
          </a:p>
          <a:p>
            <a:r>
              <a:rPr lang="pt-BR" dirty="0"/>
              <a:t>BACK + LT → Dynamic </a:t>
            </a:r>
            <a:r>
              <a:rPr lang="pt-BR" dirty="0" err="1"/>
              <a:t>Forward</a:t>
            </a:r>
            <a:r>
              <a:rPr lang="pt-BR" dirty="0"/>
              <a:t> </a:t>
            </a:r>
          </a:p>
          <a:p>
            <a:r>
              <a:rPr lang="pt-BR" dirty="0"/>
              <a:t>BACK + RT → Dynamic Reverse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BACK</a:t>
            </a:r>
            <a:r>
              <a:rPr lang="pt-BR" dirty="0"/>
              <a:t> = botão </a:t>
            </a:r>
            <a:r>
              <a:rPr lang="pt-BR" b="1" dirty="0" err="1"/>
              <a:t>View</a:t>
            </a:r>
            <a:r>
              <a:rPr lang="pt-BR" dirty="0"/>
              <a:t> ⧉, à esquerda do botão Xbox.</a:t>
            </a:r>
          </a:p>
        </p:txBody>
      </p:sp>
    </p:spTree>
    <p:extLst>
      <p:ext uri="{BB962C8B-B14F-4D97-AF65-F5344CB8AC3E}">
        <p14:creationId xmlns:p14="http://schemas.microsoft.com/office/powerpoint/2010/main" val="32762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18EEBC-07ED-EC3B-8198-03B058928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69161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7DE0655-0F89-A643-EBE1-2BE217549115}"/>
              </a:ext>
            </a:extLst>
          </p:cNvPr>
          <p:cNvSpPr txBox="1"/>
          <p:nvPr/>
        </p:nvSpPr>
        <p:spPr>
          <a:xfrm>
            <a:off x="7669161" y="3114426"/>
            <a:ext cx="4522839" cy="808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7736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1A4ABE1-16DA-3AA0-B4BC-BAD32862E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07082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384438C-5D2F-3171-147E-2606EEF8C3FE}"/>
              </a:ext>
            </a:extLst>
          </p:cNvPr>
          <p:cNvSpPr txBox="1"/>
          <p:nvPr/>
        </p:nvSpPr>
        <p:spPr>
          <a:xfrm>
            <a:off x="6407082" y="2577011"/>
            <a:ext cx="6096000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SYSID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5FFEC752-0DE7-00CE-22DA-9E3D5B82ECEB}"/>
              </a:ext>
            </a:extLst>
          </p:cNvPr>
          <p:cNvSpPr/>
          <p:nvPr/>
        </p:nvSpPr>
        <p:spPr>
          <a:xfrm>
            <a:off x="924560" y="1981200"/>
            <a:ext cx="2306320" cy="15849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Depois da criação do Drive</a:t>
            </a:r>
          </a:p>
        </p:txBody>
      </p:sp>
    </p:spTree>
    <p:extLst>
      <p:ext uri="{BB962C8B-B14F-4D97-AF65-F5344CB8AC3E}">
        <p14:creationId xmlns:p14="http://schemas.microsoft.com/office/powerpoint/2010/main" val="71820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13CDE5B-B7CE-51F8-F5C7-2B030C97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5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CA954-3F2E-921F-5579-193049FD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7FBC83-52F0-C9D3-80FF-0948F72BD70D}"/>
              </a:ext>
            </a:extLst>
          </p:cNvPr>
          <p:cNvSpPr txBox="1"/>
          <p:nvPr/>
        </p:nvSpPr>
        <p:spPr>
          <a:xfrm>
            <a:off x="71120" y="1176791"/>
            <a:ext cx="6096000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SYSID - QUASISTATIC 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+ LB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tensão sobe lentamente no sentido positivo.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Soltou qualquer um dos botões: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Command é cancelado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zera a tensão.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leftBumper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quasistaticForward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A754CE-0654-8401-5D59-6317A565A9F7}"/>
              </a:ext>
            </a:extLst>
          </p:cNvPr>
          <p:cNvSpPr txBox="1"/>
          <p:nvPr/>
        </p:nvSpPr>
        <p:spPr>
          <a:xfrm>
            <a:off x="6096000" y="1470900"/>
            <a:ext cx="6096000" cy="391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SYSID - QUASISTATIC REVERSE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+ RB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tensão sobe lentamente no sentido negativo.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rightBumper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quasistaticReverse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057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1944CD6-48E4-7012-DA50-F0D5CD2DF22F}"/>
              </a:ext>
            </a:extLst>
          </p:cNvPr>
          <p:cNvSpPr txBox="1"/>
          <p:nvPr/>
        </p:nvSpPr>
        <p:spPr>
          <a:xfrm>
            <a:off x="233680" y="1277860"/>
            <a:ext cx="6096000" cy="391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SYSID - DYNAMIC 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+ LT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Aplica o degrau positivo configurado: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+2.0 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leftTrigger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dynamicForward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1B9BF2-215D-659E-F048-5F7838477F17}"/>
              </a:ext>
            </a:extLst>
          </p:cNvPr>
          <p:cNvSpPr txBox="1"/>
          <p:nvPr/>
        </p:nvSpPr>
        <p:spPr>
          <a:xfrm>
            <a:off x="6096000" y="1277860"/>
            <a:ext cx="609600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SYSID - DYNAMIC REVERSE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+ RT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Aplica: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-2.0 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rightTrigger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driveSysId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dynamicReverse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99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EE00E7-C134-5889-1FEC-82192B792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pt-BR" sz="6400"/>
              <a:t>Realize o Teste com robô na bancada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A8D215-4123-1B34-889C-FA9E8195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r>
              <a:rPr lang="pt-BR" dirty="0"/>
              <a:t>Sem atrito nas rodas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10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6EE2C4A-6D87-DEDA-45F6-9DCC95C0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19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4055CF4-C075-8D8C-671D-8B59ECFAA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57912"/>
              </p:ext>
            </p:extLst>
          </p:nvPr>
        </p:nvGraphicFramePr>
        <p:xfrm>
          <a:off x="-1" y="0"/>
          <a:ext cx="12191999" cy="6858001"/>
        </p:xfrm>
        <a:graphic>
          <a:graphicData uri="http://schemas.openxmlformats.org/drawingml/2006/table">
            <a:tbl>
              <a:tblPr/>
              <a:tblGrid>
                <a:gridCol w="2707627">
                  <a:extLst>
                    <a:ext uri="{9D8B030D-6E8A-4147-A177-3AD203B41FA5}">
                      <a16:colId xmlns:a16="http://schemas.microsoft.com/office/drawing/2014/main" val="4201041460"/>
                    </a:ext>
                  </a:extLst>
                </a:gridCol>
                <a:gridCol w="4601430">
                  <a:extLst>
                    <a:ext uri="{9D8B030D-6E8A-4147-A177-3AD203B41FA5}">
                      <a16:colId xmlns:a16="http://schemas.microsoft.com/office/drawing/2014/main" val="1191100822"/>
                    </a:ext>
                  </a:extLst>
                </a:gridCol>
                <a:gridCol w="4882942">
                  <a:extLst>
                    <a:ext uri="{9D8B030D-6E8A-4147-A177-3AD203B41FA5}">
                      <a16:colId xmlns:a16="http://schemas.microsoft.com/office/drawing/2014/main" val="318996185"/>
                    </a:ext>
                  </a:extLst>
                </a:gridCol>
              </a:tblGrid>
              <a:tr h="847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Resultado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O que representa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Como você usa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32216"/>
                  </a:ext>
                </a:extLst>
              </a:tr>
              <a:tr h="2003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1" i="0" u="none" strike="noStrike">
                          <a:effectLst/>
                          <a:latin typeface="Arial" panose="020B0604020202020204" pitchFamily="34" charset="0"/>
                        </a:rPr>
                        <a:t>kS</a:t>
                      </a:r>
                      <a:endParaRPr lang="pt-BR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Tensão necessária para vencer o atrito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 dirty="0">
                          <a:effectLst/>
                          <a:latin typeface="Arial" panose="020B0604020202020204" pitchFamily="34" charset="0"/>
                        </a:rPr>
                        <a:t>Ajuda o robô a começar a mover sem demora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330173"/>
                  </a:ext>
                </a:extLst>
              </a:tr>
              <a:tr h="2003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1" i="0" u="none" strike="noStrike">
                          <a:effectLst/>
                          <a:latin typeface="Arial" panose="020B0604020202020204" pitchFamily="34" charset="0"/>
                        </a:rPr>
                        <a:t>kV</a:t>
                      </a:r>
                      <a:endParaRPr lang="pt-BR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Tensão necessária para manter uma velocidade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Melhora a precisão da velocidade comandada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695319"/>
                  </a:ext>
                </a:extLst>
              </a:tr>
              <a:tr h="20034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1" i="0" u="none" strike="noStrike">
                          <a:effectLst/>
                          <a:latin typeface="Arial" panose="020B0604020202020204" pitchFamily="34" charset="0"/>
                        </a:rPr>
                        <a:t>kA</a:t>
                      </a:r>
                      <a:endParaRPr lang="pt-BR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effectLst/>
                          <a:latin typeface="Arial" panose="020B0604020202020204" pitchFamily="34" charset="0"/>
                        </a:rPr>
                        <a:t>Tensão adicional durante a aceleração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 dirty="0">
                          <a:effectLst/>
                          <a:latin typeface="Arial" panose="020B0604020202020204" pitchFamily="34" charset="0"/>
                        </a:rPr>
                        <a:t>Ajuda quando você fornece uma aceleração desejada</a:t>
                      </a:r>
                    </a:p>
                  </a:txBody>
                  <a:tcPr marL="139648" marR="139648" marT="69824" marB="698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11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63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ED162D-3954-A075-9E53-4B97446ED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7767145" cy="6870177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1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E3EFE33-8D89-2DE5-F23F-F5649F09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06"/>
            <a:ext cx="12192000" cy="65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72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2129E6-2000-DA7D-3B6E-7A35D55DD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0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6295D-6829-1CF4-3214-C74DC762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800" dirty="0"/>
              <a:t>Gráfico ficou muito bom para validar que o </a:t>
            </a:r>
            <a:r>
              <a:rPr lang="pt-BR" sz="2800" dirty="0" err="1"/>
              <a:t>SysId</a:t>
            </a:r>
            <a:r>
              <a:rPr lang="pt-BR" sz="2800" dirty="0"/>
              <a:t> está funcionando como planejado.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B2E8BF-9E3D-99D5-F052-A817D0CD1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pt-BR" dirty="0"/>
              <a:t>~74s–80s    QUASISTATIC REVERSE</a:t>
            </a:r>
          </a:p>
          <a:p>
            <a:pPr marL="0" indent="0" algn="ctr">
              <a:buNone/>
            </a:pPr>
            <a:r>
              <a:rPr lang="pt-BR" dirty="0"/>
              <a:t>             0 → -2 V lentamente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~95s–100s   DYNAMIC REVERSE</a:t>
            </a:r>
          </a:p>
          <a:p>
            <a:pPr marL="0" indent="0" algn="ctr">
              <a:buNone/>
            </a:pPr>
            <a:r>
              <a:rPr lang="pt-BR" dirty="0"/>
              <a:t>             salto para -2 V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~108s–113s  QUASISTATIC FORWARD</a:t>
            </a:r>
          </a:p>
          <a:p>
            <a:pPr marL="0" indent="0" algn="ctr">
              <a:buNone/>
            </a:pPr>
            <a:r>
              <a:rPr lang="pt-BR" dirty="0"/>
              <a:t>             0 → +2 V lentamente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~116s–121s  DYNAMIC FORWARD</a:t>
            </a:r>
          </a:p>
          <a:p>
            <a:pPr marL="0" indent="0" algn="ctr">
              <a:buNone/>
            </a:pPr>
            <a:r>
              <a:rPr lang="pt-BR" dirty="0"/>
              <a:t>             salto para +2 V</a:t>
            </a:r>
          </a:p>
        </p:txBody>
      </p:sp>
    </p:spTree>
    <p:extLst>
      <p:ext uri="{BB962C8B-B14F-4D97-AF65-F5344CB8AC3E}">
        <p14:creationId xmlns:p14="http://schemas.microsoft.com/office/powerpoint/2010/main" val="348908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8536A-602D-D4A1-C1E3-9DE6B96F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O ponto mais importante é que </a:t>
            </a:r>
            <a:r>
              <a:rPr lang="pt-BR" sz="2800" dirty="0" err="1"/>
              <a:t>RequestedVolts</a:t>
            </a:r>
            <a:r>
              <a:rPr lang="pt-BR" sz="2800" dirty="0"/>
              <a:t> e os </a:t>
            </a:r>
            <a:r>
              <a:rPr lang="pt-BR" sz="2800" dirty="0" err="1"/>
              <a:t>DriveAppliedVolts</a:t>
            </a:r>
            <a:r>
              <a:rPr lang="pt-BR" sz="2800" dirty="0"/>
              <a:t> dos módulos praticamente ficam sobrepostos. Ou seja: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C74ACF-4E21-648D-63C6-E41C15AC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dirty="0" err="1"/>
              <a:t>SysId</a:t>
            </a:r>
            <a:r>
              <a:rPr lang="pt-BR" dirty="0"/>
              <a:t> pede tensão </a:t>
            </a:r>
          </a:p>
          <a:p>
            <a:pPr marL="0" indent="0" algn="ctr">
              <a:buNone/>
            </a:pPr>
            <a:r>
              <a:rPr lang="pt-BR" dirty="0"/>
              <a:t>↓ </a:t>
            </a:r>
          </a:p>
          <a:p>
            <a:pPr marL="0" indent="0" algn="ctr">
              <a:buNone/>
            </a:pPr>
            <a:r>
              <a:rPr lang="pt-BR" dirty="0"/>
              <a:t>Drive recebe </a:t>
            </a:r>
          </a:p>
          <a:p>
            <a:pPr marL="0" indent="0" algn="ctr">
              <a:buNone/>
            </a:pPr>
            <a:r>
              <a:rPr lang="pt-BR" dirty="0"/>
              <a:t>↓</a:t>
            </a:r>
          </a:p>
          <a:p>
            <a:pPr marL="0" indent="0" algn="ctr">
              <a:buNone/>
            </a:pPr>
            <a:r>
              <a:rPr lang="pt-BR" dirty="0"/>
              <a:t> proteção libera </a:t>
            </a:r>
          </a:p>
          <a:p>
            <a:pPr marL="0" indent="0" algn="ctr">
              <a:buNone/>
            </a:pPr>
            <a:r>
              <a:rPr lang="pt-BR" dirty="0"/>
              <a:t>↓ </a:t>
            </a:r>
          </a:p>
          <a:p>
            <a:pPr marL="0" indent="0" algn="ctr">
              <a:buNone/>
            </a:pPr>
            <a:r>
              <a:rPr lang="pt-BR" dirty="0"/>
              <a:t>motores recebem aproximadamente a tensão esperada</a:t>
            </a:r>
          </a:p>
        </p:txBody>
      </p:sp>
    </p:spTree>
    <p:extLst>
      <p:ext uri="{BB962C8B-B14F-4D97-AF65-F5344CB8AC3E}">
        <p14:creationId xmlns:p14="http://schemas.microsoft.com/office/powerpoint/2010/main" val="2876343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EB70F-2EAE-4607-BE48-930D0FD2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8307AD-18D9-6656-6A19-596A38F10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02489B-4480-040D-8ABF-3F94D9E4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643B28-CE2C-4B84-A0A4-459B91AD7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21BADE-7A8F-16F6-85A7-53CD1AA77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pt-BR" sz="6400" dirty="0"/>
              <a:t>Realize o Teste com robô no chão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C79CFE-760D-0B67-E327-327609453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r>
              <a:rPr lang="pt-BR" dirty="0"/>
              <a:t>Com o atrito para verificarmos o comportamento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03064B-481E-7532-CA94-7D5197EDC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768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A38BE9-F853-C4BD-6F01-58D12F6A9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882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C2FBD09-C2B9-0A32-FD5B-B59510ADF45B}"/>
              </a:ext>
            </a:extLst>
          </p:cNvPr>
          <p:cNvSpPr txBox="1"/>
          <p:nvPr/>
        </p:nvSpPr>
        <p:spPr>
          <a:xfrm>
            <a:off x="7559040" y="3266960"/>
            <a:ext cx="4632960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SignalLogger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28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D877E8B-A612-C3E7-0CC1-E84504A2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13D5AEE-90B5-930C-A1D4-6336ACCC639B}"/>
              </a:ext>
            </a:extLst>
          </p:cNvPr>
          <p:cNvSpPr txBox="1"/>
          <p:nvPr/>
        </p:nvSpPr>
        <p:spPr>
          <a:xfrm>
            <a:off x="91440" y="1656274"/>
            <a:ext cx="6096000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SysIdTestState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CTRE .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hoot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SignalLogger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writeString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041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8F207B-1015-3075-A6F7-F5989092B455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Faça o download do log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2155187-9D3C-07E5-7C34-B522E74FD3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79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6517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DE1E144-461B-B739-5C59-189F8CCF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20"/>
            <a:ext cx="12192000" cy="6484159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CAA69EFD-A345-52BE-EFBA-400905551BE4}"/>
              </a:ext>
            </a:extLst>
          </p:cNvPr>
          <p:cNvSpPr/>
          <p:nvPr/>
        </p:nvSpPr>
        <p:spPr>
          <a:xfrm>
            <a:off x="6642538" y="1008993"/>
            <a:ext cx="809296" cy="599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29D05E8-4B28-5A0F-B69E-FDC8315A876C}"/>
              </a:ext>
            </a:extLst>
          </p:cNvPr>
          <p:cNvSpPr/>
          <p:nvPr/>
        </p:nvSpPr>
        <p:spPr>
          <a:xfrm>
            <a:off x="10117258" y="5682593"/>
            <a:ext cx="809296" cy="5990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058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3E90FD-7DF2-C613-D202-CCB3F1996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2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18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078C881-6A46-0CD0-CCDA-82EECFE5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739C6E3-7D54-311B-935D-68FC38C5B1C0}"/>
              </a:ext>
            </a:extLst>
          </p:cNvPr>
          <p:cNvSpPr/>
          <p:nvPr/>
        </p:nvSpPr>
        <p:spPr>
          <a:xfrm rot="14924046">
            <a:off x="326872" y="829617"/>
            <a:ext cx="767255" cy="767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472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1004</Words>
  <Application>Microsoft Office PowerPoint</Application>
  <PresentationFormat>Widescreen</PresentationFormat>
  <Paragraphs>227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Tema do Office</vt:lpstr>
      <vt:lpstr>SysID</vt:lpstr>
      <vt:lpstr>E depois vamos comparar:</vt:lpstr>
      <vt:lpstr>Module.java</vt:lpstr>
      <vt:lpstr>Apresentação do PowerPoint</vt:lpstr>
      <vt:lpstr>DriveSysId.java</vt:lpstr>
      <vt:lpstr>O fluxo será:</vt:lpstr>
      <vt:lpstr>Botões mapeados para testes.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Realize o Teste com robô na bancada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Gráfico ficou muito bom para validar que o SysId está funcionando como planejado.</vt:lpstr>
      <vt:lpstr>O ponto mais importante é que RequestedVolts e os DriveAppliedVolts dos módulos praticamente ficam sobrepostos. Ou seja:</vt:lpstr>
      <vt:lpstr>Realize o Teste com robô no chão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22</cp:revision>
  <dcterms:created xsi:type="dcterms:W3CDTF">2026-09-22T21:11:49Z</dcterms:created>
  <dcterms:modified xsi:type="dcterms:W3CDTF">2026-09-23T19:52:20Z</dcterms:modified>
</cp:coreProperties>
</file>