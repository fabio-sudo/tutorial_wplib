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71" r:id="rId14"/>
    <p:sldId id="272" r:id="rId15"/>
    <p:sldId id="274" r:id="rId16"/>
    <p:sldId id="273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3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2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5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6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0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74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8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3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1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62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96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699776-A312-8386-5202-DBA537FC1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pt-BR" dirty="0"/>
              <a:t>Validação do </a:t>
            </a:r>
            <a:r>
              <a:rPr lang="pt-BR"/>
              <a:t>Swerve</a:t>
            </a:r>
            <a:r>
              <a:rPr lang="pt-BR" dirty="0"/>
              <a:t> no chão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0A2F99-9FCE-1D99-27E4-DE4A741B0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1100"/>
              <a:t>Agora o objetivo muda um pouco: não queremos mais saber apenas se o motor gira corretamente. Queremos verificar se o robô completo se comporta bem com </a:t>
            </a:r>
            <a:r>
              <a:rPr lang="pt-BR" sz="1100" b="1"/>
              <a:t>peso, atrito, inércia e contato com o piso</a:t>
            </a:r>
            <a:r>
              <a:rPr lang="pt-BR" sz="1100"/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333A8C2-6343-9439-A1F0-FE170362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47" r="19792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2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0F0A2-43FC-919D-00BD-8BB22D15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AdvantageScope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B81BBA-8C7E-0A21-F48D-C5C4B44CD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659120" cy="3566160"/>
          </a:xfrm>
        </p:spPr>
        <p:txBody>
          <a:bodyPr/>
          <a:lstStyle/>
          <a:p>
            <a:r>
              <a:rPr lang="pt-BR" dirty="0" err="1"/>
              <a:t>Robot</a:t>
            </a:r>
            <a:r>
              <a:rPr lang="pt-BR" dirty="0"/>
              <a:t>/Pose </a:t>
            </a:r>
          </a:p>
          <a:p>
            <a:r>
              <a:rPr lang="pt-BR" dirty="0"/>
              <a:t>Drive/</a:t>
            </a:r>
            <a:r>
              <a:rPr lang="pt-BR" dirty="0" err="1"/>
              <a:t>MeasuredChassisSpeeds</a:t>
            </a:r>
            <a:r>
              <a:rPr lang="pt-BR" dirty="0"/>
              <a:t> </a:t>
            </a:r>
          </a:p>
          <a:p>
            <a:r>
              <a:rPr lang="pt-BR" dirty="0"/>
              <a:t>Drive/Module0/</a:t>
            </a:r>
            <a:r>
              <a:rPr lang="pt-BR" dirty="0" err="1"/>
              <a:t>DriveVelocitySetpoint</a:t>
            </a:r>
            <a:r>
              <a:rPr lang="pt-BR" dirty="0"/>
              <a:t> </a:t>
            </a:r>
          </a:p>
          <a:p>
            <a:r>
              <a:rPr lang="pt-BR" dirty="0"/>
              <a:t>Drive/Module0/</a:t>
            </a:r>
            <a:r>
              <a:rPr lang="pt-BR" dirty="0" err="1"/>
              <a:t>DriveVelocityMeasured</a:t>
            </a:r>
            <a:r>
              <a:rPr lang="pt-BR" dirty="0"/>
              <a:t> </a:t>
            </a:r>
          </a:p>
          <a:p>
            <a:r>
              <a:rPr lang="pt-BR" dirty="0"/>
              <a:t>Drive/Module0/</a:t>
            </a:r>
            <a:r>
              <a:rPr lang="pt-BR" dirty="0" err="1"/>
              <a:t>DriveVelocityError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ADB44F-F4D5-629A-ED49-109A41AF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005" y="2913532"/>
            <a:ext cx="2753109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6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A01CF8-A306-BF22-8AC6-3F9C79EF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5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4DA0C7-BA54-99EC-730D-D6FD2EDC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41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050A53-6933-7457-CD97-8B548764E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45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5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CF414EE-E25E-CB69-2959-E98FDFA25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547479"/>
              </p:ext>
            </p:extLst>
          </p:nvPr>
        </p:nvGraphicFramePr>
        <p:xfrm>
          <a:off x="598098" y="1187669"/>
          <a:ext cx="9029379" cy="525893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09793">
                  <a:extLst>
                    <a:ext uri="{9D8B030D-6E8A-4147-A177-3AD203B41FA5}">
                      <a16:colId xmlns:a16="http://schemas.microsoft.com/office/drawing/2014/main" val="1195416874"/>
                    </a:ext>
                  </a:extLst>
                </a:gridCol>
                <a:gridCol w="3009793">
                  <a:extLst>
                    <a:ext uri="{9D8B030D-6E8A-4147-A177-3AD203B41FA5}">
                      <a16:colId xmlns:a16="http://schemas.microsoft.com/office/drawing/2014/main" val="2976211569"/>
                    </a:ext>
                  </a:extLst>
                </a:gridCol>
                <a:gridCol w="3009793">
                  <a:extLst>
                    <a:ext uri="{9D8B030D-6E8A-4147-A177-3AD203B41FA5}">
                      <a16:colId xmlns:a16="http://schemas.microsoft.com/office/drawing/2014/main" val="2565021908"/>
                    </a:ext>
                  </a:extLst>
                </a:gridCol>
              </a:tblGrid>
              <a:tr h="22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Verificação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O que vejo no seu gráfico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Status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501054658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Telemetria funcionando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 err="1"/>
                        <a:t>Setpoint</a:t>
                      </a:r>
                      <a:r>
                        <a:rPr lang="pt-BR" sz="1200" dirty="0"/>
                        <a:t>, </a:t>
                      </a:r>
                      <a:r>
                        <a:rPr lang="pt-BR" sz="1200" dirty="0" err="1"/>
                        <a:t>Measured</a:t>
                      </a:r>
                      <a:r>
                        <a:rPr lang="pt-BR" sz="1200" dirty="0"/>
                        <a:t> e Error aparecem normalmente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4069222194"/>
                  </a:ext>
                </a:extLst>
              </a:tr>
              <a:tr h="57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Parado retorna para 0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Nos períodos sem comando, as três curvas voltam para próximo de zero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2529581483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Measured acompanha o Setpoint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Nos trechos estáveis as curvas ficam próximas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1195811041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Sentido positivo correto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Setpoint positivo → Measured positivo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3566275436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Sentido negativo correto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Setpoint negativo → Measured negativo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722093443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Erro pequeno em velocidade constante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Nos patamares estáveis o erro fica relativamente pequeno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3811381828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Erro diminui depois da aceleração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Depois das mudanças ele tende a voltar perto de zero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330657680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Oscilação permanente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Não vejo oscilação contínua quando o comando fica estável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1408435670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Picos durante mudanças bruscas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Existem vários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⚠️ Normal se você mudou o joystick rapidamente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2035092471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Comportamento sob carga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Melhor variação que suspenso é esperada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✅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1397634665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Teste padronizado de velocidade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Este gráfico tem muitas mudanças diferentes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⏳ Falta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3365614632"/>
                  </a:ext>
                </a:extLst>
              </a:tr>
              <a:tr h="40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Comparação dos 4 módulos no chão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Aqui estamos avaliando principalmente o Module0</a:t>
                      </a:r>
                    </a:p>
                  </a:txBody>
                  <a:tcPr marL="39182" marR="39182" marT="19591" marB="195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/>
                        <a:t>⏳ Falta</a:t>
                      </a:r>
                    </a:p>
                  </a:txBody>
                  <a:tcPr marL="39182" marR="39182" marT="19591" marB="19591" anchor="ctr"/>
                </a:tc>
                <a:extLst>
                  <a:ext uri="{0D108BD9-81ED-4DB2-BD59-A6C34878D82A}">
                    <a16:rowId xmlns:a16="http://schemas.microsoft.com/office/drawing/2014/main" val="3653956448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96947F42-8DA2-1CBB-9CA9-7FE2D669C2D1}"/>
              </a:ext>
            </a:extLst>
          </p:cNvPr>
          <p:cNvSpPr txBox="1"/>
          <p:nvPr/>
        </p:nvSpPr>
        <p:spPr>
          <a:xfrm>
            <a:off x="598098" y="41139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Checklist — Drive com carga real</a:t>
            </a:r>
          </a:p>
        </p:txBody>
      </p:sp>
    </p:spTree>
    <p:extLst>
      <p:ext uri="{BB962C8B-B14F-4D97-AF65-F5344CB8AC3E}">
        <p14:creationId xmlns:p14="http://schemas.microsoft.com/office/powerpoint/2010/main" val="218613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4B9013-E3E0-F27E-7A4B-3F05728B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5915" y="1006933"/>
            <a:ext cx="2982141" cy="2643264"/>
          </a:xfrm>
        </p:spPr>
        <p:txBody>
          <a:bodyPr anchor="b">
            <a:normAutofit/>
          </a:bodyPr>
          <a:lstStyle/>
          <a:p>
            <a:r>
              <a:rPr lang="pt-BR" sz="4400"/>
              <a:t>Calibração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B8DE4F-1E04-4276-DFF0-7A1AA9F6D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4143" y="4288160"/>
            <a:ext cx="2982141" cy="1364726"/>
          </a:xfrm>
        </p:spPr>
        <p:txBody>
          <a:bodyPr anchor="t">
            <a:normAutofit/>
          </a:bodyPr>
          <a:lstStyle/>
          <a:p>
            <a:endParaRPr lang="pt-BR" dirty="0"/>
          </a:p>
        </p:txBody>
      </p:sp>
      <p:pic>
        <p:nvPicPr>
          <p:cNvPr id="7" name="Graphic 6" descr="Ferramentas">
            <a:extLst>
              <a:ext uri="{FF2B5EF4-FFF2-40B4-BE49-F238E27FC236}">
                <a16:creationId xmlns:a16="http://schemas.microsoft.com/office/drawing/2014/main" id="{59D0F439-311B-0F8E-394A-21451226B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0721" y="809596"/>
            <a:ext cx="5284527" cy="528452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534CB3-4CA5-DDD2-D519-C4A714A68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16943" y="3999192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0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FE5532-8B7F-843B-D585-AB4412BD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76EBC28E-E2F1-6E12-EB6F-AC7153F09C7E}"/>
              </a:ext>
            </a:extLst>
          </p:cNvPr>
          <p:cNvSpPr/>
          <p:nvPr/>
        </p:nvSpPr>
        <p:spPr>
          <a:xfrm rot="13006063">
            <a:off x="2158473" y="2355719"/>
            <a:ext cx="725214" cy="6831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36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864D15-44AD-7B9B-AB40-6F6B162D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6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5955A9F-716E-DAF4-E8B0-14690115CD7B}"/>
              </a:ext>
            </a:extLst>
          </p:cNvPr>
          <p:cNvSpPr txBox="1"/>
          <p:nvPr/>
        </p:nvSpPr>
        <p:spPr>
          <a:xfrm>
            <a:off x="5811520" y="1947888"/>
            <a:ext cx="6096000" cy="318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LATERAL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STRAFE_SPEED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ROTATION_SPEED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5FE6FD-F525-34CE-AAF3-24985CD8BA4E}"/>
              </a:ext>
            </a:extLst>
          </p:cNvPr>
          <p:cNvSpPr txBox="1"/>
          <p:nvPr/>
        </p:nvSpPr>
        <p:spPr>
          <a:xfrm>
            <a:off x="172720" y="121747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CalibrationConstants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STOP_TIME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STEP_TIME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VELOCIDADES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metros por segundo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DRIVE_LOW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DRIVE_MEDIUM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DRIVE_HIGH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2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29E53-8EC0-E394-2CEB-F0D30759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09C8F6B-4CB3-ED40-BB12-CEC304AB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4429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3095F81-3638-1FCC-E040-372031868B72}"/>
              </a:ext>
            </a:extLst>
          </p:cNvPr>
          <p:cNvSpPr txBox="1"/>
          <p:nvPr/>
        </p:nvSpPr>
        <p:spPr>
          <a:xfrm>
            <a:off x="7772400" y="1105805"/>
            <a:ext cx="3454400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CalibrationTest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DRIVE_LOW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DRIVE_MEDIUM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DRIVE_HIGH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STRAFE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FULL_TEST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506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9D221D-B3DF-6755-9E2B-BFFA53E5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9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4F147F-6A2C-B9CE-2238-9A276598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29616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2D798E3-26CD-B03B-67AE-256CF1E08420}"/>
              </a:ext>
            </a:extLst>
          </p:cNvPr>
          <p:cNvSpPr/>
          <p:nvPr/>
        </p:nvSpPr>
        <p:spPr>
          <a:xfrm rot="8499426">
            <a:off x="1770828" y="2843315"/>
            <a:ext cx="688490" cy="623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750E5B-E6A7-EF72-D5F5-52F1CBE6B2A2}"/>
              </a:ext>
            </a:extLst>
          </p:cNvPr>
          <p:cNvSpPr txBox="1"/>
          <p:nvPr/>
        </p:nvSpPr>
        <p:spPr>
          <a:xfrm>
            <a:off x="7533939" y="3317494"/>
            <a:ext cx="4042364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40051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BA7B868-A32F-E1AA-A389-F27F107B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6515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88371EA-AF42-3754-B9B4-B2EF2A4AB5DB}"/>
              </a:ext>
            </a:extLst>
          </p:cNvPr>
          <p:cNvSpPr txBox="1"/>
          <p:nvPr/>
        </p:nvSpPr>
        <p:spPr>
          <a:xfrm>
            <a:off x="6329680" y="2708825"/>
            <a:ext cx="6096000" cy="17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BOTÃO A - Segurar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driveLowTest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165634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354AEC-5FCD-E664-8850-8612C2AF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478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69B2B56-0A71-760D-F20B-01BA45033D43}"/>
              </a:ext>
            </a:extLst>
          </p:cNvPr>
          <p:cNvSpPr txBox="1"/>
          <p:nvPr/>
        </p:nvSpPr>
        <p:spPr>
          <a:xfrm>
            <a:off x="6380480" y="2640731"/>
            <a:ext cx="5496560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POV ↑ - TESTE DRIVE SWEEP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povUp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driveSweepTest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293901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191E47-E278-22E6-27CF-520490A1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980274" cy="29966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A pasta calibration vai ficar bem organizada para virar nossa ferramenta completa de testes.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24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5B803A-977C-CDF2-F412-59341FBA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79" b="6552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3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B3756-1BC8-0282-F6BF-072546E1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os 4 módulos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CEF27-4A02-E903-CD10-7F4480358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✅ </a:t>
            </a:r>
            <a:r>
              <a:rPr lang="pt-BR" dirty="0" err="1"/>
              <a:t>Steer</a:t>
            </a:r>
            <a:r>
              <a:rPr lang="pt-BR" dirty="0"/>
              <a:t> validado </a:t>
            </a:r>
          </a:p>
          <a:p>
            <a:r>
              <a:rPr lang="pt-BR" dirty="0"/>
              <a:t>✅ Drive suspenso </a:t>
            </a:r>
          </a:p>
          <a:p>
            <a:r>
              <a:rPr lang="pt-BR" dirty="0"/>
              <a:t>✅ Drive no chão </a:t>
            </a:r>
          </a:p>
          <a:p>
            <a:r>
              <a:rPr lang="pt-BR" dirty="0"/>
              <a:t>✅ Drive </a:t>
            </a:r>
            <a:r>
              <a:rPr lang="pt-BR" dirty="0" err="1"/>
              <a:t>Low</a:t>
            </a:r>
            <a:r>
              <a:rPr lang="pt-BR" dirty="0"/>
              <a:t> Test </a:t>
            </a:r>
          </a:p>
          <a:p>
            <a:r>
              <a:rPr lang="pt-BR" dirty="0"/>
              <a:t>✅ Drive </a:t>
            </a:r>
            <a:r>
              <a:rPr lang="pt-BR" dirty="0" err="1"/>
              <a:t>Sweep</a:t>
            </a:r>
            <a:r>
              <a:rPr lang="pt-BR" dirty="0"/>
              <a:t> </a:t>
            </a:r>
          </a:p>
          <a:p>
            <a:r>
              <a:rPr lang="pt-BR" dirty="0"/>
              <a:t>✅ comparação frente/ré e várias velocidades</a:t>
            </a:r>
          </a:p>
        </p:txBody>
      </p:sp>
    </p:spTree>
    <p:extLst>
      <p:ext uri="{BB962C8B-B14F-4D97-AF65-F5344CB8AC3E}">
        <p14:creationId xmlns:p14="http://schemas.microsoft.com/office/powerpoint/2010/main" val="41421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6BBA6-F3D4-F1E3-E696-F9363ECF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4567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571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Grandview Display</vt:lpstr>
      <vt:lpstr>DashVTI</vt:lpstr>
      <vt:lpstr>Validação do Swerve no chão</vt:lpstr>
      <vt:lpstr>AdvantageScope</vt:lpstr>
      <vt:lpstr>Apresentação do PowerPoint</vt:lpstr>
      <vt:lpstr>Apresentação do PowerPoint</vt:lpstr>
      <vt:lpstr>Apresentação do PowerPoint</vt:lpstr>
      <vt:lpstr>Apresentação do PowerPoint</vt:lpstr>
      <vt:lpstr>Calibração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 pasta calibration vai ficar bem organizada para virar nossa ferramenta completa de testes.</vt:lpstr>
      <vt:lpstr>Apresentação do PowerPoint</vt:lpstr>
      <vt:lpstr>Teste os 4 módulos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12</cp:revision>
  <dcterms:created xsi:type="dcterms:W3CDTF">2026-09-21T18:09:19Z</dcterms:created>
  <dcterms:modified xsi:type="dcterms:W3CDTF">2026-09-22T16:27:36Z</dcterms:modified>
</cp:coreProperties>
</file>