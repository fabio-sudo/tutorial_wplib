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sldIdLst>
    <p:sldId id="256" r:id="rId2"/>
    <p:sldId id="257" r:id="rId3"/>
    <p:sldId id="261" r:id="rId4"/>
    <p:sldId id="258" r:id="rId5"/>
    <p:sldId id="262" r:id="rId6"/>
    <p:sldId id="259" r:id="rId7"/>
    <p:sldId id="260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2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3B052-A59B-4AE3-A89A-E7748630C1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DA9EC4-FEA9-41D2-BE8D-F709F01D3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155CF-52F5-4879-B7F3-D05812AC4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F276-1833-4A75-9C1D-A56E2295A68D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053AC-61ED-4C2F-90BF-D4A916545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B2ED7-A198-4613-B8C9-EE02BAE24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628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98991-AEF1-4F19-AAB8-436EAD58C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5B44F-E7DA-40C6-8B44-71EAB6BDF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Wingdings" panose="05000000000000000000" pitchFamily="2" charset="2"/>
              <a:buChar char="§"/>
              <a:defRPr/>
            </a:lvl2pPr>
            <a:lvl3pPr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71817-A045-48C0-975B-CBEF88E95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F276-1833-4A75-9C1D-A56E2295A68D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C39F0-32D4-407C-8BCA-97F2D9E50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CF4459-37B2-4F87-B508-DB04D4332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604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BBD03-9D57-48E9-8B43-688B72997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F376C-8A2F-4BE5-9669-4A6DA21B7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54893-212E-4450-8F7A-27256B31F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F276-1833-4A75-9C1D-A56E2295A68D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0E881A-3958-44A9-9EDB-D86F4E414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DBC4F-D9B8-4BFA-BE4F-D4B9B739D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635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8777-C460-4649-8822-CA943386D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F69E6-1094-437B-AA7E-0E21B7136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57399"/>
            <a:ext cx="5181600" cy="41195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0BC963-4591-4BE3-AE63-4999A13C50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57399"/>
            <a:ext cx="5181600" cy="4119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4D5BB-DB84-4266-9B4F-E65CCFE5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F276-1833-4A75-9C1D-A56E2295A68D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1A99B5-D493-4AB1-AF24-6660540D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178D0-5F1E-43FA-B447-53501EDD1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940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C85CC-8D2B-4219-A2A4-1625A02DF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68338"/>
            <a:ext cx="10515600" cy="10842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143C8-1CF7-440E-99A3-052731459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28800"/>
            <a:ext cx="5157787" cy="82391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FF5CA-4662-4430-80C7-99CD7D66C9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43199"/>
            <a:ext cx="5157787" cy="34464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6CB5B7-DC23-41CE-872B-E25BD64F84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28800"/>
            <a:ext cx="5183188" cy="82391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F7633C-C24D-4947-979C-132B3AC405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43199"/>
            <a:ext cx="5183188" cy="34464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8A46E1-3934-4807-900F-CA7A4D8D6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F276-1833-4A75-9C1D-A56E2295A68D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C9C6EA-1549-4601-8226-E5C43469C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658246-003D-4024-9F4B-BA3BD3FBF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796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2DD4C-BFBC-4087-B94C-4DD0690E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B9D434-8228-4C7F-B520-14121EBC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F276-1833-4A75-9C1D-A56E2295A68D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B89BD-A70A-48D2-A3D9-DB2C0DB12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CF4EF-5A2A-4A47-81DF-80CB51306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517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8B9F00-8450-475B-B155-993BAF21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F276-1833-4A75-9C1D-A56E2295A68D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0FDDA3-8E6F-42F7-BFBE-7FA9C647C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8E678-81B8-4356-9624-A0B99953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343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10DAA-DDE3-4C9C-8171-385A3DAC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85800"/>
            <a:ext cx="3932237" cy="1371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73DB2-BD72-4F5E-9CA2-197343A09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685801"/>
            <a:ext cx="6172200" cy="5175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F01536-2B0A-42A2-827E-2EB2C324A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209800"/>
            <a:ext cx="3932237" cy="3659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22CD09-61EF-4733-831C-5B133DAE1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F276-1833-4A75-9C1D-A56E2295A68D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109FCF-96E4-4EBF-AAFB-5E9AD22A6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E381A6-E580-49A4-989C-EF4A54F83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188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FA6E-F719-4613-8815-591471E72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85800"/>
            <a:ext cx="3932237" cy="1371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4384F3-CDE0-4329-B76D-45AAC94B04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685801"/>
            <a:ext cx="6172200" cy="5175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A9D7EB-40DA-460F-A48A-3E6D5E5612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209800"/>
            <a:ext cx="3932237" cy="3659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56944C-E229-457E-868E-C48FF47DA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F276-1833-4A75-9C1D-A56E2295A68D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115FE-359F-46EA-A3C8-0D18544E3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165D17-3010-4FF5-9071-5CCD3E699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35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B47DD-81F8-4128-9E50-04A9F2D3D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564D1-2B83-4C0F-ACBA-E91472C50A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A1D7D-D2EC-4ADB-9C65-191DEC82D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F276-1833-4A75-9C1D-A56E2295A68D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CB571-86F9-474A-826A-75CC21C88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84F5F-50E6-4BB9-B848-EE2302C02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1650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3F08DF-1C0D-4F53-A3AB-95D7B55FA0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61999"/>
            <a:ext cx="2628900" cy="54149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3BBD-C494-4E94-B189-319802A93E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61999"/>
            <a:ext cx="7734300" cy="5414963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C0BD9-4BED-43D3-852F-B74B949A2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F276-1833-4A75-9C1D-A56E2295A68D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811DC-C725-4462-B622-DB96A8987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42D06-438F-4150-9238-E2FAEE5E2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44951-7827-47D4-8276-7DDE1FA7D85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760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ame 7">
            <a:extLst>
              <a:ext uri="{FF2B5EF4-FFF2-40B4-BE49-F238E27FC236}">
                <a16:creationId xmlns:a16="http://schemas.microsoft.com/office/drawing/2014/main" id="{DD7EAFE6-2BB9-41FB-9CF4-588CFC708774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frame">
            <a:avLst>
              <a:gd name="adj1" fmla="val 7164"/>
            </a:avLst>
          </a:prstGeom>
          <a:gradFill flip="none" rotWithShape="1">
            <a:gsLst>
              <a:gs pos="0">
                <a:schemeClr val="accent2">
                  <a:alpha val="40000"/>
                </a:schemeClr>
              </a:gs>
              <a:gs pos="100000">
                <a:schemeClr val="accent1">
                  <a:alpha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447F1F-BFA8-4A56-894B-40120132E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58FB99-0FA3-49F4-99A1-61919F942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78657"/>
            <a:ext cx="10515600" cy="3998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CCAE5-4EB0-4174-BD15-4943899B0A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293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fld id="{AA70F276-1833-4A75-9C1D-A56E2295A68D}" type="datetimeFigureOut">
              <a:rPr lang="en-US" smtClean="0"/>
              <a:pPr/>
              <a:t>9/28/2026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A4189E-43B2-4CEE-B13E-61A1FBBBD2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293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0530F-0BC8-46EF-A765-DD58B53675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293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fld id="{28844951-7827-47D4-8276-7DDE1FA7D85A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4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01" r:id="rId5"/>
    <p:sldLayoutId id="2147483706" r:id="rId6"/>
    <p:sldLayoutId id="2147483702" r:id="rId7"/>
    <p:sldLayoutId id="2147483703" r:id="rId8"/>
    <p:sldLayoutId id="2147483704" r:id="rId9"/>
    <p:sldLayoutId id="2147483705" r:id="rId10"/>
    <p:sldLayoutId id="2147483707" r:id="rId11"/>
  </p:sldLayoutIdLst>
  <p:txStyles>
    <p:titleStyle>
      <a:lvl1pPr marL="0" algn="l" defTabSz="914400" rtl="0" eaLnBrk="1" latinLnBrk="0" hangingPunct="1">
        <a:lnSpc>
          <a:spcPct val="90000"/>
        </a:lnSpc>
        <a:spcBef>
          <a:spcPct val="0"/>
        </a:spcBef>
        <a:buNone/>
        <a:defRPr lang="en-US" sz="5200" kern="1200" dirty="0">
          <a:gradFill flip="none" rotWithShape="1">
            <a:gsLst>
              <a:gs pos="0">
                <a:schemeClr val="accent5"/>
              </a:gs>
              <a:gs pos="100000">
                <a:schemeClr val="accent1">
                  <a:alpha val="70000"/>
                </a:schemeClr>
              </a:gs>
            </a:gsLst>
            <a:lin ang="0" scaled="1"/>
            <a:tileRect/>
          </a:gradFill>
          <a:latin typeface="+mj-lt"/>
          <a:ea typeface="+mn-ea"/>
          <a:cs typeface="Angsana New" panose="02020603050405020304" pitchFamily="18" charset="-34"/>
        </a:defRPr>
      </a:lvl1pPr>
    </p:titleStyle>
    <p:bodyStyle>
      <a:lvl1pPr marL="4572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tx2">
            <a:lumMod val="10000"/>
            <a:lumOff val="90000"/>
          </a:schemeClr>
        </a:buClr>
        <a:buSzPct val="80000"/>
        <a:buFont typeface="Wingdings" panose="05000000000000000000" pitchFamily="2" charset="2"/>
        <a:buChar char="§"/>
        <a:defRPr sz="2800" kern="1200">
          <a:solidFill>
            <a:schemeClr val="tx2">
              <a:alpha val="70000"/>
            </a:schemeClr>
          </a:solidFill>
          <a:latin typeface="+mn-lt"/>
          <a:ea typeface="+mn-ea"/>
          <a:cs typeface="+mn-cs"/>
        </a:defRPr>
      </a:lvl1pPr>
      <a:lvl2pPr marL="8001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10000"/>
            <a:lumOff val="90000"/>
          </a:schemeClr>
        </a:buClr>
        <a:buSzPct val="80000"/>
        <a:buFont typeface="Wingdings" panose="05000000000000000000" pitchFamily="2" charset="2"/>
        <a:buChar char="§"/>
        <a:defRPr sz="2400" kern="1200">
          <a:solidFill>
            <a:schemeClr val="tx2">
              <a:alpha val="70000"/>
            </a:schemeClr>
          </a:solidFill>
          <a:latin typeface="+mn-lt"/>
          <a:ea typeface="+mn-ea"/>
          <a:cs typeface="+mn-cs"/>
        </a:defRPr>
      </a:lvl2pPr>
      <a:lvl3pPr marL="12573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10000"/>
            <a:lumOff val="90000"/>
          </a:schemeClr>
        </a:buClr>
        <a:buSzPct val="80000"/>
        <a:buFont typeface="Wingdings" panose="05000000000000000000" pitchFamily="2" charset="2"/>
        <a:buChar char="§"/>
        <a:defRPr sz="2000" kern="1200">
          <a:solidFill>
            <a:schemeClr val="tx2">
              <a:alpha val="70000"/>
            </a:schemeClr>
          </a:solidFill>
          <a:latin typeface="+mn-lt"/>
          <a:ea typeface="+mn-ea"/>
          <a:cs typeface="+mn-cs"/>
        </a:defRPr>
      </a:lvl3pPr>
      <a:lvl4pPr marL="165735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10000"/>
            <a:lumOff val="90000"/>
          </a:schemeClr>
        </a:buClr>
        <a:buSzPct val="80000"/>
        <a:buFont typeface="Wingdings" panose="05000000000000000000" pitchFamily="2" charset="2"/>
        <a:buChar char="§"/>
        <a:defRPr sz="1800" kern="1200">
          <a:solidFill>
            <a:schemeClr val="tx2">
              <a:alpha val="70000"/>
            </a:schemeClr>
          </a:solidFill>
          <a:latin typeface="+mn-lt"/>
          <a:ea typeface="+mn-ea"/>
          <a:cs typeface="+mn-cs"/>
        </a:defRPr>
      </a:lvl4pPr>
      <a:lvl5pPr marL="211455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10000"/>
            <a:lumOff val="90000"/>
          </a:schemeClr>
        </a:buClr>
        <a:buSzPct val="80000"/>
        <a:buFont typeface="Wingdings" panose="05000000000000000000" pitchFamily="2" charset="2"/>
        <a:buChar char="§"/>
        <a:defRPr sz="1800" kern="1200">
          <a:solidFill>
            <a:schemeClr val="tx2">
              <a:alpha val="7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C37C960-91F5-4F61-B2CD-8A0379207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07BE2A2-8240-8885-1913-96EA38A659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6858000" cy="2387600"/>
          </a:xfrm>
        </p:spPr>
        <p:txBody>
          <a:bodyPr>
            <a:normAutofit/>
          </a:bodyPr>
          <a:lstStyle/>
          <a:p>
            <a:pPr algn="l"/>
            <a:r>
              <a:rPr lang="pt-BR">
                <a:gradFill flip="none" rotWithShape="1">
                  <a:gsLst>
                    <a:gs pos="0">
                      <a:schemeClr val="accent5">
                        <a:alpha val="70000"/>
                      </a:schemeClr>
                    </a:gs>
                    <a:gs pos="100000">
                      <a:schemeClr val="accent1">
                        <a:alpha val="70000"/>
                      </a:schemeClr>
                    </a:gs>
                  </a:gsLst>
                  <a:lin ang="0" scaled="1"/>
                  <a:tileRect/>
                </a:gradFill>
              </a:rPr>
              <a:t>Calibração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FEBAE5C-62D3-9CCE-540F-B0183EE3C0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602038"/>
            <a:ext cx="6858000" cy="1655762"/>
          </a:xfrm>
        </p:spPr>
        <p:txBody>
          <a:bodyPr>
            <a:normAutofit/>
          </a:bodyPr>
          <a:lstStyle/>
          <a:p>
            <a:pPr algn="l"/>
            <a:endParaRPr lang="pt-BR" sz="2200" dirty="0">
              <a:solidFill>
                <a:schemeClr val="tx2">
                  <a:alpha val="6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31B763-5C57-A254-205B-C2000F0332A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33826" r="24072" b="1"/>
          <a:stretch>
            <a:fillRect/>
          </a:stretch>
        </p:blipFill>
        <p:spPr>
          <a:xfrm>
            <a:off x="8069579" y="10"/>
            <a:ext cx="4110228" cy="685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4921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382AC48-815E-9BBD-FD8B-E88939FC6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480495" cy="6858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62B0DED8-6E36-44B5-9370-66B8CAAC45A4}"/>
              </a:ext>
            </a:extLst>
          </p:cNvPr>
          <p:cNvSpPr txBox="1"/>
          <p:nvPr/>
        </p:nvSpPr>
        <p:spPr>
          <a:xfrm>
            <a:off x="7620000" y="3111062"/>
            <a:ext cx="311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Código está na pasta </a:t>
            </a:r>
            <a:r>
              <a:rPr lang="pt-BR" dirty="0" err="1"/>
              <a:t>assets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5542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C1F247E-6E48-0869-D247-2507A2DF0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9136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9EB0CF5-E15C-7590-D14C-2F97B92C8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208655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9C633FD-2320-DE26-C1B8-D68588A4E664}"/>
              </a:ext>
            </a:extLst>
          </p:cNvPr>
          <p:cNvSpPr txBox="1"/>
          <p:nvPr/>
        </p:nvSpPr>
        <p:spPr>
          <a:xfrm>
            <a:off x="7620000" y="3111062"/>
            <a:ext cx="311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Código está na pasta </a:t>
            </a:r>
            <a:r>
              <a:rPr lang="pt-BR" dirty="0" err="1"/>
              <a:t>assets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1928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A2477EE-FBE5-4DB7-8438-DE1CAC61A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B0E521E-8528-4E92-8B8C-67ED5C5BD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437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ACE86AC-E9B6-3E0C-99F1-92F60BF45C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r="25"/>
          <a:stretch>
            <a:fillRect/>
          </a:stretch>
        </p:blipFill>
        <p:spPr>
          <a:xfrm>
            <a:off x="-21815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57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A2477EE-FBE5-4DB7-8438-DE1CAC61A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B0E521E-8528-4E92-8B8C-67ED5C5BD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437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E373237-F85F-0AAE-73FA-91378E9793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r="4024"/>
          <a:stretch>
            <a:fillRect/>
          </a:stretch>
        </p:blipFill>
        <p:spPr>
          <a:xfrm>
            <a:off x="-21815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65420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BC8F855E-978D-D43B-AD0E-760C3FA4FFA8}"/>
              </a:ext>
            </a:extLst>
          </p:cNvPr>
          <p:cNvSpPr txBox="1"/>
          <p:nvPr/>
        </p:nvSpPr>
        <p:spPr>
          <a:xfrm>
            <a:off x="802640" y="1836128"/>
            <a:ext cx="6096000" cy="3185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DriveTwoMetersCommand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    </a:t>
            </a:r>
            <a:r>
              <a:rPr lang="pt-BR" sz="105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withTimeout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6.0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A3FB881-39ED-3AEB-9B07-FACE8EF4062B}"/>
              </a:ext>
            </a:extLst>
          </p:cNvPr>
          <p:cNvSpPr txBox="1"/>
          <p:nvPr/>
        </p:nvSpPr>
        <p:spPr>
          <a:xfrm>
            <a:off x="6278880" y="2018742"/>
            <a:ext cx="6096000" cy="2820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Rotate360Command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    </a:t>
            </a:r>
            <a:r>
              <a:rPr lang="pt-BR" sz="105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withTimeout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25.0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);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EA323CC-02D7-21D0-D3C2-7E97141C675D}"/>
              </a:ext>
            </a:extLst>
          </p:cNvPr>
          <p:cNvSpPr txBox="1"/>
          <p:nvPr/>
        </p:nvSpPr>
        <p:spPr>
          <a:xfrm>
            <a:off x="4856480" y="1115674"/>
            <a:ext cx="7030720" cy="6291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	       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BACK + B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TESTE AUTOMÁTICO - ROTAÇÃO 360°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B1A752C-1CA3-3105-D414-A8FD02C37FBD}"/>
              </a:ext>
            </a:extLst>
          </p:cNvPr>
          <p:cNvSpPr txBox="1"/>
          <p:nvPr/>
        </p:nvSpPr>
        <p:spPr>
          <a:xfrm>
            <a:off x="-10160" y="659139"/>
            <a:ext cx="5801360" cy="1176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	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TESTE AUTOMÁTICO - ANDAR 2 METROS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		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BACK + A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75336CC-1336-3DB1-E6C8-C28568601465}"/>
              </a:ext>
            </a:extLst>
          </p:cNvPr>
          <p:cNvSpPr txBox="1"/>
          <p:nvPr/>
        </p:nvSpPr>
        <p:spPr>
          <a:xfrm>
            <a:off x="3850640" y="5372994"/>
            <a:ext cx="4238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</a:rPr>
              <a:t>Script está em </a:t>
            </a:r>
            <a:r>
              <a:rPr lang="pt-BR" b="1" dirty="0" err="1">
                <a:solidFill>
                  <a:schemeClr val="bg1"/>
                </a:solidFill>
              </a:rPr>
              <a:t>assets</a:t>
            </a:r>
            <a:r>
              <a:rPr lang="pt-BR" b="1" dirty="0">
                <a:solidFill>
                  <a:schemeClr val="bg1"/>
                </a:solidFill>
              </a:rPr>
              <a:t> </a:t>
            </a:r>
            <a:r>
              <a:rPr lang="pt-BR" b="1" dirty="0" err="1">
                <a:solidFill>
                  <a:schemeClr val="bg1"/>
                </a:solidFill>
              </a:rPr>
              <a:t>robotcontainer</a:t>
            </a:r>
            <a:endParaRPr lang="pt-BR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3155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AB17BB-2FE2-8648-68F0-979103087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Importante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26A39E-0B41-5055-547F-D3D72AE59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Verifique se realmente o robô deu 360 graus</a:t>
            </a:r>
          </a:p>
          <a:p>
            <a:r>
              <a:rPr lang="pt-BR" dirty="0"/>
              <a:t>Verifique se realmente o robô andou 2 metros</a:t>
            </a:r>
          </a:p>
        </p:txBody>
      </p:sp>
    </p:spTree>
    <p:extLst>
      <p:ext uri="{BB962C8B-B14F-4D97-AF65-F5344CB8AC3E}">
        <p14:creationId xmlns:p14="http://schemas.microsoft.com/office/powerpoint/2010/main" val="1022987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A1FBD9-C71F-AF69-D3FE-EB6013C2D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Verifique a Pose 2D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8D6E80E3-A8A5-5FAF-287F-6F207EBB69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78050"/>
            <a:ext cx="8938969" cy="399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426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635817-F1FF-1B5F-435E-925C322AA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Crie o </a:t>
            </a:r>
            <a:r>
              <a:rPr lang="pt-BR"/>
              <a:t>Linegraph</a:t>
            </a:r>
            <a:r>
              <a:rPr lang="pt-BR" dirty="0"/>
              <a:t> para verificar o erro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81EE4324-F71E-D1B9-93BF-F7F4057C64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78050"/>
            <a:ext cx="10515600" cy="399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225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1E8AF4-C329-DF56-FB96-3F396D0C9B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Validação Rotação </a:t>
            </a:r>
            <a:r>
              <a:rPr lang="pt-BR" dirty="0" err="1"/>
              <a:t>Swerve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639C3F-3504-6534-D99A-0042952EBC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8178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95F8DB-E974-A299-BEF9-1F668D26C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Nova 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893161A-35DC-704E-F20A-2A316BF34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buNone/>
            </a:pPr>
            <a:r>
              <a:rPr lang="pt-BR"/>
              <a:t>Para </a:t>
            </a:r>
            <a:r>
              <a:rPr lang="pt-BR" dirty="0"/>
              <a:t>fechar o </a:t>
            </a:r>
            <a:r>
              <a:rPr lang="pt-BR" b="1" dirty="0"/>
              <a:t>360° de forma definitiva</a:t>
            </a:r>
            <a:r>
              <a:rPr lang="pt-BR" dirty="0"/>
              <a:t>, eu mexeria </a:t>
            </a:r>
            <a:r>
              <a:rPr lang="pt-BR" b="1" dirty="0"/>
              <a:t>somente no </a:t>
            </a:r>
            <a:r>
              <a:rPr lang="pt-BR" b="1" dirty="0">
                <a:latin typeface="Courier New" panose="02070309020205020404" pitchFamily="49" charset="0"/>
              </a:rPr>
              <a:t>Rotate360Command</a:t>
            </a:r>
            <a:r>
              <a:rPr lang="pt-BR" dirty="0"/>
              <a:t> por enquanto. O </a:t>
            </a:r>
            <a:r>
              <a:rPr lang="pt-BR" dirty="0">
                <a:latin typeface="Courier New" panose="02070309020205020404" pitchFamily="49" charset="0"/>
              </a:rPr>
              <a:t>Drive</a:t>
            </a:r>
            <a:r>
              <a:rPr lang="pt-BR" dirty="0"/>
              <a:t> já fornece </a:t>
            </a:r>
            <a:r>
              <a:rPr lang="pt-BR" dirty="0" err="1">
                <a:latin typeface="Courier New" panose="02070309020205020404" pitchFamily="49" charset="0"/>
              </a:rPr>
              <a:t>getRotation</a:t>
            </a:r>
            <a:r>
              <a:rPr lang="pt-BR" dirty="0">
                <a:latin typeface="Courier New" panose="02070309020205020404" pitchFamily="49" charset="0"/>
              </a:rPr>
              <a:t>()</a:t>
            </a:r>
            <a:r>
              <a:rPr lang="pt-BR" dirty="0"/>
              <a:t> diretamente do </a:t>
            </a:r>
            <a:r>
              <a:rPr lang="pt-BR" dirty="0" err="1">
                <a:latin typeface="Courier New" panose="02070309020205020404" pitchFamily="49" charset="0"/>
              </a:rPr>
              <a:t>gyroInputs.yawPositionRad</a:t>
            </a:r>
            <a:r>
              <a:rPr lang="pt-BR" dirty="0"/>
              <a:t>, e a </a:t>
            </a:r>
            <a:r>
              <a:rPr lang="pt-BR" dirty="0" err="1"/>
              <a:t>odometria</a:t>
            </a:r>
            <a:r>
              <a:rPr lang="pt-BR" dirty="0"/>
              <a:t> também usa esse mesmo </a:t>
            </a:r>
            <a:r>
              <a:rPr lang="pt-BR" dirty="0" err="1"/>
              <a:t>yaw</a:t>
            </a:r>
            <a:r>
              <a:rPr lang="pt-BR" dirty="0"/>
              <a:t>. </a:t>
            </a:r>
            <a:r>
              <a:rPr lang="pt-BR" dirty="0" err="1"/>
              <a:t>Markdown</a:t>
            </a:r>
            <a:r>
              <a:rPr lang="pt-BR" dirty="0"/>
              <a:t> colado </a:t>
            </a:r>
            <a:r>
              <a:rPr lang="pt-BR" dirty="0" err="1"/>
              <a:t>Markdown</a:t>
            </a:r>
            <a:r>
              <a:rPr lang="pt-BR" dirty="0"/>
              <a:t> colado</a:t>
            </a:r>
          </a:p>
          <a:p>
            <a:pPr>
              <a:buNone/>
            </a:pPr>
            <a:r>
              <a:rPr lang="pt-BR" dirty="0"/>
              <a:t>Além disso, o </a:t>
            </a:r>
            <a:r>
              <a:rPr lang="pt-BR" dirty="0" err="1"/>
              <a:t>Pigeon</a:t>
            </a:r>
            <a:r>
              <a:rPr lang="pt-BR" dirty="0"/>
              <a:t> 2 fornece </a:t>
            </a:r>
            <a:r>
              <a:rPr lang="pt-BR" dirty="0" err="1"/>
              <a:t>yaw</a:t>
            </a:r>
            <a:r>
              <a:rPr lang="pt-BR" dirty="0"/>
              <a:t> contínuo muito além de ±360°, e o </a:t>
            </a:r>
            <a:r>
              <a:rPr lang="pt-BR" dirty="0">
                <a:latin typeface="Courier New" panose="02070309020205020404" pitchFamily="49" charset="0"/>
              </a:rPr>
              <a:t>Rotation2d</a:t>
            </a:r>
            <a:r>
              <a:rPr lang="pt-BR" dirty="0"/>
              <a:t> atual do </a:t>
            </a:r>
            <a:r>
              <a:rPr lang="pt-BR" dirty="0" err="1"/>
              <a:t>WPILib</a:t>
            </a:r>
            <a:r>
              <a:rPr lang="pt-BR" dirty="0"/>
              <a:t> também preserva ângulos contínuos quando construído a partir do valor em radianos. Portanto, podemos simplificar o teste e medir diretamente </a:t>
            </a:r>
            <a:r>
              <a:rPr lang="pt-BR" b="1" dirty="0"/>
              <a:t>ângulo atual − ângulo inicial</a:t>
            </a:r>
            <a:r>
              <a:rPr lang="pt-BR" dirty="0"/>
              <a:t>, sem precisar reconstruir uma volta pedaço por pedaço. 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34081187"/>
      </p:ext>
    </p:extLst>
  </p:cSld>
  <p:clrMapOvr>
    <a:masterClrMapping/>
  </p:clrMapOvr>
</p:sld>
</file>

<file path=ppt/theme/theme1.xml><?xml version="1.0" encoding="utf-8"?>
<a:theme xmlns:a="http://schemas.openxmlformats.org/drawingml/2006/main" name="LuminousVTI">
  <a:themeElements>
    <a:clrScheme name="Custom 54">
      <a:dk1>
        <a:sysClr val="windowText" lastClr="000000"/>
      </a:dk1>
      <a:lt1>
        <a:sysClr val="window" lastClr="FFFFFF"/>
      </a:lt1>
      <a:dk2>
        <a:srgbClr val="201449"/>
      </a:dk2>
      <a:lt2>
        <a:srgbClr val="EEEEEE"/>
      </a:lt2>
      <a:accent1>
        <a:srgbClr val="F900A0"/>
      </a:accent1>
      <a:accent2>
        <a:srgbClr val="4D4EE6"/>
      </a:accent2>
      <a:accent3>
        <a:srgbClr val="454B78"/>
      </a:accent3>
      <a:accent4>
        <a:srgbClr val="A3A3C1"/>
      </a:accent4>
      <a:accent5>
        <a:srgbClr val="7162FE"/>
      </a:accent5>
      <a:accent6>
        <a:srgbClr val="1EBE9B"/>
      </a:accent6>
      <a:hlink>
        <a:srgbClr val="F900A0"/>
      </a:hlink>
      <a:folHlink>
        <a:srgbClr val="8477FE"/>
      </a:folHlink>
    </a:clrScheme>
    <a:fontScheme name="Custom 51">
      <a:majorFont>
        <a:latin typeface="Sabon Next L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uminousVTI" id="{3EBF12FF-FD44-415B-AB75-5B4F7E5C3AC4}" vid="{521B7FAE-6A8D-4468-B79A-0706294A0D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279</Words>
  <Application>Microsoft Office PowerPoint</Application>
  <PresentationFormat>Widescreen</PresentationFormat>
  <Paragraphs>50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9" baseType="lpstr">
      <vt:lpstr>Arial</vt:lpstr>
      <vt:lpstr>Avenir Next LT Pro</vt:lpstr>
      <vt:lpstr>Consolas</vt:lpstr>
      <vt:lpstr>Courier New</vt:lpstr>
      <vt:lpstr>Sabon Next LT</vt:lpstr>
      <vt:lpstr>Wingdings</vt:lpstr>
      <vt:lpstr>LuminousVTI</vt:lpstr>
      <vt:lpstr>Calibração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Importante</vt:lpstr>
      <vt:lpstr>Verifique a Pose 2D</vt:lpstr>
      <vt:lpstr>Crie o Linegraph para verificar o erro</vt:lpstr>
      <vt:lpstr>Validação Rotação Swerve</vt:lpstr>
      <vt:lpstr>Nova implementação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Fabio Henrique Trevezane</dc:creator>
  <cp:lastModifiedBy>Fabio Henrique Trevezane</cp:lastModifiedBy>
  <cp:revision>5</cp:revision>
  <dcterms:created xsi:type="dcterms:W3CDTF">2026-09-28T21:47:42Z</dcterms:created>
  <dcterms:modified xsi:type="dcterms:W3CDTF">2026-09-28T21:57:14Z</dcterms:modified>
</cp:coreProperties>
</file>