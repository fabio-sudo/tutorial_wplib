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8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 title="Page Number Shape">
            <a:extLst>
              <a:ext uri="{FF2B5EF4-FFF2-40B4-BE49-F238E27FC236}">
                <a16:creationId xmlns:a16="http://schemas.microsoft.com/office/drawing/2014/main" id="{DD4C4B28-6B4B-4445-8535-F516D74E4AA9}"/>
              </a:ext>
            </a:extLst>
          </p:cNvPr>
          <p:cNvSpPr/>
          <p:nvPr/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2" name="Straight Connector 11" title="Verticle Rule Line">
            <a:extLst>
              <a:ext uri="{FF2B5EF4-FFF2-40B4-BE49-F238E27FC236}">
                <a16:creationId xmlns:a16="http://schemas.microsoft.com/office/drawing/2014/main" id="{0CB1C732-7193-4253-8746-850D090A6B4E}"/>
              </a:ext>
            </a:extLst>
          </p:cNvPr>
          <p:cNvCxnSpPr>
            <a:cxnSpLocks/>
          </p:cNvCxnSpPr>
          <p:nvPr/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3AA199-952B-427F-A5BE-B97D25FD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6720840" cy="3730752"/>
          </a:xfrm>
        </p:spPr>
        <p:txBody>
          <a:bodyPr anchor="t">
            <a:normAutofit/>
          </a:bodyPr>
          <a:lstStyle>
            <a:lvl1pPr algn="l"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AA393-A876-475F-A05B-1CCAB6C1F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8992" y="5010912"/>
            <a:ext cx="6720840" cy="7040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95621-D631-4F31-AEEF-C8574E50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86356" y="6007608"/>
            <a:ext cx="3143643" cy="365125"/>
          </a:xfrm>
        </p:spPr>
        <p:txBody>
          <a:bodyPr/>
          <a:lstStyle/>
          <a:p>
            <a:fld id="{53BEF823-48A5-43FC-BE03-E79964288B41}" type="datetimeFigureOut">
              <a:rPr lang="en-US" smtClean="0"/>
              <a:t>9/23/2026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EE125-77AD-4E23-AFB7-C5CFDEAC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8991" y="6007608"/>
            <a:ext cx="672083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69682-B530-4F52-87B9-39464A09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8521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51BD-5252-4168-A69E-C6864AE2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8EEE-19C9-493B-836D-73B9E4A0B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A6BFE-11ED-4FB4-9F65-508B5B0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F536E-BEFF-4E0D-B4EC-39DE28C6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EE02AF-6FE1-4972-BD48-A82499A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10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2EE-D9FC-4E51-9BFF-141F9192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51" y="2414016"/>
            <a:ext cx="10666949" cy="3099816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086C4-4949-4E7A-A182-6709496A1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1389888"/>
            <a:ext cx="10671048" cy="822960"/>
          </a:xfrm>
        </p:spPr>
        <p:txBody>
          <a:bodyPr anchor="ctr">
            <a:normAutofit/>
          </a:bodyPr>
          <a:lstStyle>
            <a:lvl1pPr marL="0" indent="0">
              <a:buNone/>
              <a:defRPr sz="2000" i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12BC88-6A2B-4851-9568-23A4B74D9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2CFE5-65C3-4F46-9141-464545594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1B390-4E13-4481-AC02-FF12665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169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02F8-47BB-4D30-8EFE-69C9222D9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84648" y="758952"/>
            <a:ext cx="6245352" cy="224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44D33-6BF0-4205-A542-8537E3515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4647" y="3273551"/>
            <a:ext cx="6245351" cy="2240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6953A83-D2BE-4015-8D64-BE93DDF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A849E67-05F9-4033-B033-74D6B8C8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FAAC6AA-CFFB-438F-9327-DDB023E2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960CB-ABA7-4442-AB15-FE444F23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47787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8291-9C7D-407E-8D07-FA3A323E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A192D2-8BA6-4A4D-814D-AD37A2A10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0323" y="1377198"/>
            <a:ext cx="6239675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FD4BC-C948-41C4-BA24-5D26147E1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84647" y="3319548"/>
            <a:ext cx="6245351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2E359C-F73D-4F1B-9F9A-6D6285671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84646" y="3932372"/>
            <a:ext cx="6245352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76B63AE-38FF-40DD-A543-32DD98E6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686C0EB-E082-4BAB-99E8-B42F3C28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3CB0152-BA1F-48C7-A66F-3ADB51C9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D1C21B3-5CF6-415F-8295-EED3DF5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176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70D5-4EB9-4410-A8AE-6D85F192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87FB59-BA77-4864-B9E8-99485125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F0BC0B-BA67-455B-B567-1473DF062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F0BCF3-6FB5-4529-AA6A-A3146735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163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1315B-6865-4A5A-91C1-B7533903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36720-08C7-43DE-8EB5-CAB52D0E9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477AF-B012-491C-AE42-22DE120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548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83AC-72A9-43F5-A1B3-1D7A6A4C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58951"/>
            <a:ext cx="6245352" cy="475488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45592-52ED-4270-ACBB-BCC528DAC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3" y="3815080"/>
            <a:ext cx="3831336" cy="169875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9A93518-F9B5-418F-9883-BEF835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B9FFE7-C4AB-425B-9B56-E412C722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231052-EBA8-4781-B28A-2FEA8BE5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BF9E7-F686-4FA1-9BA5-69BDD014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30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805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16CF06-B27C-4DC4-981D-38E31997B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58951"/>
            <a:ext cx="6245352" cy="4754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76E66-2CB3-4F47-97F6-077C4281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3794760"/>
            <a:ext cx="3831336" cy="1719072"/>
          </a:xfrm>
        </p:spPr>
        <p:txBody>
          <a:bodyPr>
            <a:normAutofit/>
          </a:bodyPr>
          <a:lstStyle>
            <a:lvl1pPr marL="0" indent="0">
              <a:buNone/>
              <a:defRPr sz="20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414C9F-CBBD-4D5E-A831-BC0CDFEB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58DC0C8-B580-442D-8DAC-4F0F869B1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B0D29E8-DFEE-49AB-83AF-85FF2525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AAF1B-6B6E-4D37-8F57-E403C637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26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253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59FCF-ACDF-495D-ACFA-15FCAC9E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786E3-AB17-427E-8EF8-7FCB671A1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3B4E9-7A16-448C-8BE6-B14941A34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212F5-5835-49FF-836F-5E3008A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D492B-E5EE-4D24-A087-57D739CF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430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1E395-94BD-4E79-8E42-9CD4EB33C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75542" y="758952"/>
            <a:ext cx="2954458" cy="4986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AA8A4-66BC-4E80-ABE3-F533F82B8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8952" y="758952"/>
            <a:ext cx="7407586" cy="49860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DA4EA6-6A1A-48ED-9D79-A438561C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49B2BA-9250-4EBF-8820-10BDA5C1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14475-55F3-4C46-BAE2-E4D93E9E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145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72411438-92A5-42B0-9C54-EA4FB32ACB5E}"/>
              </a:ext>
            </a:extLst>
          </p:cNvPr>
          <p:cNvSpPr/>
          <p:nvPr/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56E4D8-47B6-4DEC-BD29-B3B6ED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475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5D4C-4873-4052-A294-99CCB9421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4754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D62B3-3490-46B4-A10E-33FCE4A1F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16952" y="6007608"/>
            <a:ext cx="3813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9/23/2026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4CB1-7D5F-4F52-9F99-7068F5819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007608"/>
            <a:ext cx="38313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F9CC9-1431-4569-B2F1-D04814955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86616" y="6007608"/>
            <a:ext cx="411480" cy="365125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570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i="1" kern="1200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8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502F14-0FF6-8F9D-B94E-DFFB5EC3C7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958" r="4665"/>
          <a:stretch>
            <a:fillRect/>
          </a:stretch>
        </p:blipFill>
        <p:spPr>
          <a:xfrm>
            <a:off x="3331593" y="10"/>
            <a:ext cx="8860407" cy="6857990"/>
          </a:xfrm>
          <a:custGeom>
            <a:avLst/>
            <a:gdLst/>
            <a:ahLst/>
            <a:cxnLst/>
            <a:rect l="l" t="t" r="r" b="b"/>
            <a:pathLst>
              <a:path w="8860407" h="6858000">
                <a:moveTo>
                  <a:pt x="0" y="0"/>
                </a:moveTo>
                <a:lnTo>
                  <a:pt x="8860407" y="0"/>
                </a:lnTo>
                <a:lnTo>
                  <a:pt x="8860407" y="6858000"/>
                </a:lnTo>
                <a:lnTo>
                  <a:pt x="661049" y="6858000"/>
                </a:lnTo>
                <a:lnTo>
                  <a:pt x="832672" y="6662026"/>
                </a:lnTo>
                <a:cubicBezTo>
                  <a:pt x="1465328" y="5866432"/>
                  <a:pt x="1845374" y="4846462"/>
                  <a:pt x="1845374" y="3734370"/>
                </a:cubicBezTo>
                <a:cubicBezTo>
                  <a:pt x="1845374" y="2244963"/>
                  <a:pt x="1163691" y="920792"/>
                  <a:pt x="106458" y="79568"/>
                </a:cubicBezTo>
                <a:close/>
              </a:path>
            </a:pathLst>
          </a:cu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8ECD78E-B491-E2ED-8A0D-43FAF43396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952" y="1128811"/>
            <a:ext cx="3447288" cy="3342290"/>
          </a:xfrm>
        </p:spPr>
        <p:txBody>
          <a:bodyPr anchor="b">
            <a:normAutofit/>
          </a:bodyPr>
          <a:lstStyle/>
          <a:p>
            <a:r>
              <a:rPr lang="pt-BR" sz="3400" dirty="0" err="1"/>
              <a:t>ModuleIOTalonFX</a:t>
            </a:r>
            <a:endParaRPr lang="pt-BR" sz="3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D048A5-1D01-940C-7B52-A90A0C3CB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953" y="4660288"/>
            <a:ext cx="3447287" cy="1126364"/>
          </a:xfrm>
        </p:spPr>
        <p:txBody>
          <a:bodyPr anchor="t">
            <a:normAutofit fontScale="62500" lnSpcReduction="20000"/>
          </a:bodyPr>
          <a:lstStyle/>
          <a:p>
            <a:r>
              <a:rPr lang="pt-BR" dirty="0" err="1"/>
              <a:t>esponsável</a:t>
            </a:r>
            <a:r>
              <a:rPr lang="pt-BR" dirty="0"/>
              <a:t> por </a:t>
            </a:r>
            <a:r>
              <a:rPr lang="pt-BR" b="1" dirty="0"/>
              <a:t>conectar o seu código da </a:t>
            </a:r>
            <a:r>
              <a:rPr lang="pt-BR" b="1" dirty="0" err="1"/>
              <a:t>Swerve</a:t>
            </a:r>
            <a:r>
              <a:rPr lang="pt-BR" b="1" dirty="0"/>
              <a:t> ao hardware real</a:t>
            </a:r>
            <a:r>
              <a:rPr lang="pt-BR" dirty="0"/>
              <a:t>, usando os motores/controladores </a:t>
            </a:r>
            <a:r>
              <a:rPr lang="pt-BR" b="1" dirty="0" err="1"/>
              <a:t>TalonFX</a:t>
            </a:r>
            <a:r>
              <a:rPr lang="pt-BR" dirty="0"/>
              <a:t> — por exemplo, </a:t>
            </a:r>
            <a:r>
              <a:rPr lang="pt-BR" dirty="0" err="1"/>
              <a:t>Kraken</a:t>
            </a:r>
            <a:r>
              <a:rPr lang="pt-BR" dirty="0"/>
              <a:t> X60 ou Falcon 500 com Phoenix 6</a:t>
            </a:r>
          </a:p>
        </p:txBody>
      </p:sp>
      <p:sp>
        <p:nvSpPr>
          <p:cNvPr id="11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516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91BEF0E0-D816-4A73-E85C-1520C9C44B62}"/>
              </a:ext>
            </a:extLst>
          </p:cNvPr>
          <p:cNvSpPr txBox="1"/>
          <p:nvPr/>
        </p:nvSpPr>
        <p:spPr>
          <a:xfrm>
            <a:off x="7521677" y="240540"/>
            <a:ext cx="6096000" cy="209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frc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subsystems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ModuleIOTalonFX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ModuleIO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0156458-F580-70F5-3343-F7E0FBE13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1622" y="0"/>
            <a:ext cx="68098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097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18FCA81-77E1-C8CD-32DA-77517423A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656336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C8378EE-A24B-400C-BCB3-854133263C00}"/>
              </a:ext>
            </a:extLst>
          </p:cNvPr>
          <p:cNvSpPr txBox="1"/>
          <p:nvPr/>
        </p:nvSpPr>
        <p:spPr>
          <a:xfrm>
            <a:off x="6882579" y="192601"/>
            <a:ext cx="4896465" cy="6472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IMPORTS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edu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wpi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units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Units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.*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edu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wpi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MathUtil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CANcoderConfiguration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ClosedLoopGeneralConfigs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CurrentLimitsConfigs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FeedbackConfigs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MotorOutputConfigs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Slot0Configs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configs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TalonFXConfiguration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controls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PositionVoltage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controls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VelocityVoltage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controls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VoltageOut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hardware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hardware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FeedbackSensorSourceValue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InvertedValue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NeutralModeValue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SensorDirectionValue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signals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StaticFeedforwardSignValue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212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E826518B-2CEC-507A-C116-8735D962C0C7}"/>
              </a:ext>
            </a:extLst>
          </p:cNvPr>
          <p:cNvSpPr txBox="1"/>
          <p:nvPr/>
        </p:nvSpPr>
        <p:spPr>
          <a:xfrm>
            <a:off x="6990736" y="446446"/>
            <a:ext cx="4866967" cy="6290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ModuleIOTalonFX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ModuleIO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CONSTANTES MECÂNICAS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Relação do Drive: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6.746 rotações do motor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rotação da roda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DRIVE_GEAR_RATIO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6.746031746031747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Relação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Steer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21.428 rotações do motor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rotação completa do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STEER_GEAR_RATIO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21.428571428571427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Raio da roda: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 polegadas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0.0508 metros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WHEEL_RADIUS_METERS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0.0508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20D5D7C-ACB6-6E01-55D4-0ED262368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6553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213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E1F48748-ECE9-32DE-D426-A82263722EF0}"/>
              </a:ext>
            </a:extLst>
          </p:cNvPr>
          <p:cNvSpPr txBox="1"/>
          <p:nvPr/>
        </p:nvSpPr>
        <p:spPr>
          <a:xfrm>
            <a:off x="6951407" y="1744821"/>
            <a:ext cx="6096000" cy="3368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HARDWARE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responsável pela tração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driveMotor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responsável pela orientação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steerMotor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absoluto da orientação do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steerEncoder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42660EF-A682-52DB-4A6E-88520B53D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1" y="0"/>
            <a:ext cx="6705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264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91F16B-7E69-C56B-F0F5-53730B94F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7157884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00CC4F0-1EE3-3129-D9CA-A7D37437BD1C}"/>
              </a:ext>
            </a:extLst>
          </p:cNvPr>
          <p:cNvSpPr txBox="1"/>
          <p:nvPr/>
        </p:nvSpPr>
        <p:spPr>
          <a:xfrm>
            <a:off x="6980903" y="894944"/>
            <a:ext cx="5211096" cy="5559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CONTROLES PHOENIX - MALHA FECHADA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DRIVE - VELOCIDADE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recebe uma velocidade desejada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 executa o PID internamente.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VelocityVoltage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driveVelocityRequest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VelocityVoltage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withSlot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withEnableFOC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STEER - POSIÇÃO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recebe uma posição angular desejada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 executa o PID internamente.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PositionVoltage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steerPositionRequest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PositionVoltage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withSlot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withEnableFOC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7062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D733C71F-D9C9-D839-458B-EB023E411BD9}"/>
              </a:ext>
            </a:extLst>
          </p:cNvPr>
          <p:cNvSpPr txBox="1"/>
          <p:nvPr/>
        </p:nvSpPr>
        <p:spPr>
          <a:xfrm>
            <a:off x="7973961" y="2018742"/>
            <a:ext cx="4218039" cy="2820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CONTROLE ABERTO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Mantidos para testes 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SysId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VoltageOut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driveVoltageRequest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VoltageOut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withEnableFOC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VoltageOut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steerVoltageRequest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VoltageOut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withEnableFOC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192B7F4-0AD7-6D9E-26BF-09678B382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2078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260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2C4F7C6-5373-934B-05D6-88DA45615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21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F962F7-5D82-7FEE-497E-67122959B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2016" y="788533"/>
            <a:ext cx="9267968" cy="2732687"/>
          </a:xfrm>
        </p:spPr>
        <p:txBody>
          <a:bodyPr anchor="b">
            <a:normAutofit/>
          </a:bodyPr>
          <a:lstStyle/>
          <a:p>
            <a:pPr algn="ctr"/>
            <a:r>
              <a:rPr lang="pt-BR" dirty="0"/>
              <a:t>Construtor</a:t>
            </a:r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2A586B-4AE5-54DA-57F1-169A68BD76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3620" y="4164697"/>
            <a:ext cx="7604761" cy="1357637"/>
          </a:xfrm>
        </p:spPr>
        <p:txBody>
          <a:bodyPr anchor="t">
            <a:normAutofit/>
          </a:bodyPr>
          <a:lstStyle/>
          <a:p>
            <a:pPr algn="ctr"/>
            <a:endParaRPr lang="pt-B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9800" y="3842963"/>
            <a:ext cx="777240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21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40152BF2-BB8F-7638-52E1-76CDFA70FAF1}"/>
              </a:ext>
            </a:extLst>
          </p:cNvPr>
          <p:cNvSpPr txBox="1"/>
          <p:nvPr/>
        </p:nvSpPr>
        <p:spPr>
          <a:xfrm>
            <a:off x="0" y="0"/>
            <a:ext cx="6096000" cy="6838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ModuleIOTalonFX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driveMotorId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steerMotorId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encoderOffsetRotations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driveInverted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steerInverted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encoderInverted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 {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1 - CRIAÇÃO DOS DISPOSITIVOS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responsável pela tração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driveMotor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driveMotorId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responsável por girar o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steerMotor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steerMotorId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responsável por medir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ângulo absoluto do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steerEncoder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encoderId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9F5A361-FD95-81AB-AAE3-8283FC9D17D8}"/>
              </a:ext>
            </a:extLst>
          </p:cNvPr>
          <p:cNvSpPr txBox="1"/>
          <p:nvPr/>
        </p:nvSpPr>
        <p:spPr>
          <a:xfrm>
            <a:off x="5407742" y="547842"/>
            <a:ext cx="6096000" cy="5742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2 - CONFIGURAÇÃO DO CANCODER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MagnetSensorConfigs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magnetConfig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MagnetSensorConfigs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Offset obtido durante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calibração no Phoenix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Tuner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withMagnetOffset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encoderOffsetRotations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Define qual sentido será considerado positivo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withSensorDirection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encoderInverted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SensorDirectionValue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Clockwise_Positive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SensorDirectionValue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CounterClockwise_Positive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30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F2233C5B-60E2-0630-E8B0-4213D36D2A01}"/>
              </a:ext>
            </a:extLst>
          </p:cNvPr>
          <p:cNvSpPr txBox="1"/>
          <p:nvPr/>
        </p:nvSpPr>
        <p:spPr>
          <a:xfrm>
            <a:off x="314633" y="923057"/>
            <a:ext cx="6096000" cy="501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      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3 - MONTA CONFIGURAÇÃO DO CANCODER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CANcoderConfiguration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encoderConfig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CANcoderConfiguration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withMagnetSensor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magnetConfig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4 - ENVIA CONFIGURAÇÃO PARA O CANCODER REAL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steerEncoder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getConfigurator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apply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encoderConfig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EC8ED7A7-BBA4-F8DB-4954-53E4AE669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247" y="1501838"/>
            <a:ext cx="3241135" cy="3854323"/>
          </a:xfrm>
          <a:prstGeom prst="rect">
            <a:avLst/>
          </a:prstGeom>
        </p:spPr>
      </p:pic>
      <p:sp>
        <p:nvSpPr>
          <p:cNvPr id="2" name="Seta: para a Direita 1">
            <a:extLst>
              <a:ext uri="{FF2B5EF4-FFF2-40B4-BE49-F238E27FC236}">
                <a16:creationId xmlns:a16="http://schemas.microsoft.com/office/drawing/2014/main" id="{BAB8243E-E802-E75F-414A-CF50F7D56A3F}"/>
              </a:ext>
            </a:extLst>
          </p:cNvPr>
          <p:cNvSpPr/>
          <p:nvPr/>
        </p:nvSpPr>
        <p:spPr>
          <a:xfrm>
            <a:off x="8808720" y="5679440"/>
            <a:ext cx="2184400" cy="1036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Continua</a:t>
            </a:r>
          </a:p>
        </p:txBody>
      </p:sp>
    </p:spTree>
    <p:extLst>
      <p:ext uri="{BB962C8B-B14F-4D97-AF65-F5344CB8AC3E}">
        <p14:creationId xmlns:p14="http://schemas.microsoft.com/office/powerpoint/2010/main" val="2863104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648270-AF22-15B0-CF3F-15BF2B189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8B21143-11DB-8B84-D927-F62BF7354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69898D8-C2F1-6479-CEC3-C14A707620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2016" y="788533"/>
            <a:ext cx="9267968" cy="2732687"/>
          </a:xfrm>
        </p:spPr>
        <p:txBody>
          <a:bodyPr anchor="b">
            <a:normAutofit/>
          </a:bodyPr>
          <a:lstStyle/>
          <a:p>
            <a:pPr algn="ctr"/>
            <a:r>
              <a:rPr lang="pt-BR" dirty="0"/>
              <a:t>Construto - Drive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67CDDC3-9EC6-993F-9121-D639FD173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3620" y="4164697"/>
            <a:ext cx="7604761" cy="1357637"/>
          </a:xfrm>
        </p:spPr>
        <p:txBody>
          <a:bodyPr anchor="t">
            <a:normAutofit/>
          </a:bodyPr>
          <a:lstStyle/>
          <a:p>
            <a:pPr algn="ctr"/>
            <a:endParaRPr lang="pt-BR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CF4ED5-E5D7-D416-24FE-65B8F1F09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9800" y="3842963"/>
            <a:ext cx="777240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reeform 6">
            <a:extLst>
              <a:ext uri="{FF2B5EF4-FFF2-40B4-BE49-F238E27FC236}">
                <a16:creationId xmlns:a16="http://schemas.microsoft.com/office/drawing/2014/main" id="{28D028E8-FFA9-CBB7-6195-EF71E2493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883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59119717-ECEA-E2FA-76AF-DC1E5E0CEEC8}"/>
              </a:ext>
            </a:extLst>
          </p:cNvPr>
          <p:cNvSpPr txBox="1"/>
          <p:nvPr/>
        </p:nvSpPr>
        <p:spPr>
          <a:xfrm>
            <a:off x="6699873" y="375215"/>
            <a:ext cx="5378246" cy="6107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1 - GANHOS DA MALHA FECHADA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Estes valores vieram do projeto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gerado pelo Phoenix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Tuner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executará este controle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internamente quando usarmos: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VelocityVoltage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Slot0Configs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driveGains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Slot0Configs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withKP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withKI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withKV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0.124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E56A6A9-51F2-67B0-83D1-AB9C80B4B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02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433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8B7BDFB2-0D53-D9F8-A6DA-0EA9B165D4EC}"/>
              </a:ext>
            </a:extLst>
          </p:cNvPr>
          <p:cNvSpPr txBox="1"/>
          <p:nvPr/>
        </p:nvSpPr>
        <p:spPr>
          <a:xfrm>
            <a:off x="189436" y="375215"/>
            <a:ext cx="4935793" cy="6107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2 - LIMITE DE CORRENTE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arquivo gerado pelo Phoenix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Tuner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utiliza limite de corrente de alimentação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de 70 A.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Isso ajuda a controlar o consumo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elétrico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CurrentLimitsConfigs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driveCurrentLimits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CurrentLimitsConfigs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withSupplyCurrentLimit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Amps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withSupplyCurrentLimitEnable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withStatorCurrentLimit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Amps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withStatorCurrentLimitEnable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DE91CE1-3B03-6FEE-31D2-855FF2B81556}"/>
              </a:ext>
            </a:extLst>
          </p:cNvPr>
          <p:cNvSpPr txBox="1"/>
          <p:nvPr/>
        </p:nvSpPr>
        <p:spPr>
          <a:xfrm>
            <a:off x="6990736" y="1363938"/>
            <a:ext cx="5201264" cy="5377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3 - INVERSÃO DO MOTOR DE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Cada lado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Swerve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pode precisar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girar o motor em sentido diferente.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No arquivo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Tuner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lado esquerdo = false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lado direito  =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true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MotorOutputConfigs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driveMotorOutput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MotorOutputConfigs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withInverted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driveInverted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InvertedValue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Clockwise_Positive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InvertedValue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CounterClockwise_Positive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4107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44CDFA-30B7-9F9A-313A-B1EA9542D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3DF30552-3CCF-4596-7B23-671F14C0FA72}"/>
              </a:ext>
            </a:extLst>
          </p:cNvPr>
          <p:cNvSpPr txBox="1"/>
          <p:nvPr/>
        </p:nvSpPr>
        <p:spPr>
          <a:xfrm>
            <a:off x="265471" y="923057"/>
            <a:ext cx="6096000" cy="501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4 - MONTA A CONFIGURAÇÃO DO TALONFX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TalonFXConfiguration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driveConfig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TalonFXConfiguration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PID +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Feedforward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withSlot0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driveGains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Limite de corrente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withCurrentLimits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driveCurrentLimits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Sentido do motor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withMotorOutput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driveMotorOutput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9B61F78-CD00-EEED-65C4-85BC00F9ADAE}"/>
              </a:ext>
            </a:extLst>
          </p:cNvPr>
          <p:cNvSpPr txBox="1"/>
          <p:nvPr/>
        </p:nvSpPr>
        <p:spPr>
          <a:xfrm>
            <a:off x="6823588" y="923057"/>
            <a:ext cx="4916129" cy="2637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5 - ENVIA A CONFIGURAÇÃO PARA O KRAKEN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driveMotor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getConfigurator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apply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driveConfig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575CEE61-B478-889D-7FD5-C2E0A8193DB4}"/>
              </a:ext>
            </a:extLst>
          </p:cNvPr>
          <p:cNvSpPr/>
          <p:nvPr/>
        </p:nvSpPr>
        <p:spPr>
          <a:xfrm>
            <a:off x="8808720" y="5679440"/>
            <a:ext cx="2184400" cy="1036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Continua</a:t>
            </a:r>
          </a:p>
        </p:txBody>
      </p:sp>
    </p:spTree>
    <p:extLst>
      <p:ext uri="{BB962C8B-B14F-4D97-AF65-F5344CB8AC3E}">
        <p14:creationId xmlns:p14="http://schemas.microsoft.com/office/powerpoint/2010/main" val="1757550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7">
            <a:extLst>
              <a:ext uri="{FF2B5EF4-FFF2-40B4-BE49-F238E27FC236}">
                <a16:creationId xmlns:a16="http://schemas.microsoft.com/office/drawing/2014/main" id="{5FCC6E86-7C37-4FD2-AF0B-C9BDDBC2B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1" y="-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6">
            <a:extLst>
              <a:ext uri="{FF2B5EF4-FFF2-40B4-BE49-F238E27FC236}">
                <a16:creationId xmlns:a16="http://schemas.microsoft.com/office/drawing/2014/main" id="{38C2FC07-A260-43C5-ABA2-A9DD5D5A8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BC5A950-63F1-8CB3-C37B-BB2B6206A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56" y="0"/>
            <a:ext cx="86972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840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396D3-8275-A3C0-297C-5381446B87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8207248" cy="3730752"/>
          </a:xfrm>
        </p:spPr>
        <p:txBody>
          <a:bodyPr/>
          <a:lstStyle/>
          <a:p>
            <a:r>
              <a:rPr lang="pt-BR" dirty="0"/>
              <a:t>Construtor -STEER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9891FB-6030-D7E1-0048-4C5F417FC1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715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E919F5FF-F02B-AD6A-E2A0-C29D0EA5236C}"/>
              </a:ext>
            </a:extLst>
          </p:cNvPr>
          <p:cNvSpPr txBox="1"/>
          <p:nvPr/>
        </p:nvSpPr>
        <p:spPr>
          <a:xfrm>
            <a:off x="6096000" y="202588"/>
            <a:ext cx="6096000" cy="665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1 - GANHOS DA MALHA FECHADA DO STEER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Slot0Configs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steerGains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Slot0Configs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withKP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withKI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withKV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2.66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withKA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withStaticFeedforwardSign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StaticFeedforwardSignValue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UseClosedLoopSign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B41F623-2254-693B-ABFF-481035583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40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5380C4-9FB8-6F79-D73E-F487B04AE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629BDA94-69D4-54AB-CD24-E45D5A416C89}"/>
              </a:ext>
            </a:extLst>
          </p:cNvPr>
          <p:cNvSpPr txBox="1"/>
          <p:nvPr/>
        </p:nvSpPr>
        <p:spPr>
          <a:xfrm>
            <a:off x="255638" y="649136"/>
            <a:ext cx="6096000" cy="5559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2 - CONFIGURAÇÃO DO SENSOR DO STEER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Aqui dizemos ao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"Use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deste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como referência de posição."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Como temos Phoenix Pro,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usamos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FusedCANcoder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FeedbackConfigs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steerFeedback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FeedbackConfigs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ID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pertencente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este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withFeedbackRemoteSensorID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encoderId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interno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withFeedbackSensorSource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FeedbackSensorSourceValue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FusedCANcoder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9D08594-0ADC-C20E-1168-E9177AD30C3F}"/>
              </a:ext>
            </a:extLst>
          </p:cNvPr>
          <p:cNvSpPr txBox="1"/>
          <p:nvPr/>
        </p:nvSpPr>
        <p:spPr>
          <a:xfrm>
            <a:off x="6351638" y="649136"/>
            <a:ext cx="6096000" cy="501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      // 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RELAÇÃO ROTOR → SENSOR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Kraken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precisa girar aproximadamente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21.428 vezes para o módulo girar 1 volta.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withRotorToSensorRatio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STEER_GEAR_RATIO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RELAÇÃO SENSOR → MECANISMO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CANcoder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mede diretamente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rotação do módulo.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rotação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CANcoder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rotação do módulo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withSensorToMechanismRatio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</p:txBody>
      </p:sp>
    </p:spTree>
    <p:extLst>
      <p:ext uri="{BB962C8B-B14F-4D97-AF65-F5344CB8AC3E}">
        <p14:creationId xmlns:p14="http://schemas.microsoft.com/office/powerpoint/2010/main" val="23446720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01A7D-8C3C-33F5-5050-4100A1B54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70C063F2-27D0-024F-3D0D-1EA9638AEE90}"/>
              </a:ext>
            </a:extLst>
          </p:cNvPr>
          <p:cNvSpPr txBox="1"/>
          <p:nvPr/>
        </p:nvSpPr>
        <p:spPr>
          <a:xfrm>
            <a:off x="334297" y="894637"/>
            <a:ext cx="6096000" cy="4464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3 - CONTINUOUS WRAP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Steer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pode girar continuamente.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Isso permite ao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TalonFX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escolher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menor caminho angular.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Exemplo: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posição atual = +179°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posição desejada = -179°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correto é girar aproximadamente 2°,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 não 358°.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ClosedLoopGeneralConfigs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steerClosedLoop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ClosedLoopGeneralConfigs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withContinuousWrap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0001EA5-9DFE-64CE-682C-B53D74B9ABFD}"/>
              </a:ext>
            </a:extLst>
          </p:cNvPr>
          <p:cNvSpPr txBox="1"/>
          <p:nvPr/>
        </p:nvSpPr>
        <p:spPr>
          <a:xfrm>
            <a:off x="6096000" y="894637"/>
            <a:ext cx="6096000" cy="3733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4 - LIMITE DE CORRENTE DO STEER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projeto gerado pelo Phoenix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Tuner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usa 60 A de limite de corrente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no estator do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Steer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CurrentLimitsConfigs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steerCurrentLimits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CurrentLimitsConfigs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withStatorCurrentLimit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Amps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withStatorCurrentLimitEnable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</p:txBody>
      </p:sp>
    </p:spTree>
    <p:extLst>
      <p:ext uri="{BB962C8B-B14F-4D97-AF65-F5344CB8AC3E}">
        <p14:creationId xmlns:p14="http://schemas.microsoft.com/office/powerpoint/2010/main" val="801177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50E4F-4733-E3EA-4EA2-56987806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0A853E62-6E51-B1DF-13D4-C503668F262B}"/>
              </a:ext>
            </a:extLst>
          </p:cNvPr>
          <p:cNvSpPr txBox="1"/>
          <p:nvPr/>
        </p:nvSpPr>
        <p:spPr>
          <a:xfrm>
            <a:off x="88491" y="91568"/>
            <a:ext cx="5093109" cy="4098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5 - INVERSÃO DO MOTOR DO STEER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Cada módulo recebe no construtor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se o motor precisa estar invertido.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MotorOutputConfigs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steerMotorOutput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MotorOutputConfigs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withInverted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steerInverted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InvertedValue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Clockwise_Positive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InvertedValue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CounterClockwise_Positive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E890CC5-89DA-F16A-124F-1CE8C8C2F1CE}"/>
              </a:ext>
            </a:extLst>
          </p:cNvPr>
          <p:cNvSpPr txBox="1"/>
          <p:nvPr/>
        </p:nvSpPr>
        <p:spPr>
          <a:xfrm>
            <a:off x="4876801" y="91568"/>
            <a:ext cx="6096000" cy="6107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6 - MONTA A CONFIGURAÇÃO DO TALONFX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TalonFXConfiguration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steerConfig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TalonFXConfiguration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PID +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Feedforward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withSlot0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steerGains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FusedCANcoder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withFeedback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steerFeedback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Movimento angular contínuo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withClosedLoopGeneral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steerClosedLoop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Limite de corrente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withCurrentLimits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steerCurrentLimits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pPr>
              <a:lnSpc>
                <a:spcPct val="113095"/>
              </a:lnSpc>
              <a:buNone/>
            </a:pP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Inversão do motor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withMotorOutput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steerMotorOutput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4A89F7E-86F4-95A3-EC6B-7D63F1ACE752}"/>
              </a:ext>
            </a:extLst>
          </p:cNvPr>
          <p:cNvSpPr txBox="1"/>
          <p:nvPr/>
        </p:nvSpPr>
        <p:spPr>
          <a:xfrm>
            <a:off x="8318091" y="2191629"/>
            <a:ext cx="3942735" cy="1907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7 - ENVIA CONFIGURAÇÃO PARA O KRAKEN DO STEER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steerMotor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getConfigurator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apply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steerConfig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</p:txBody>
      </p:sp>
    </p:spTree>
    <p:extLst>
      <p:ext uri="{BB962C8B-B14F-4D97-AF65-F5344CB8AC3E}">
        <p14:creationId xmlns:p14="http://schemas.microsoft.com/office/powerpoint/2010/main" val="4218256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3E228B-A900-CDA9-69E8-5C5944708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7826DE8-8257-1056-AAA9-0E2BD4540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804107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VTI">
  <a:themeElements>
    <a:clrScheme name="Headlines">
      <a:dk1>
        <a:sysClr val="windowText" lastClr="000000"/>
      </a:dk1>
      <a:lt1>
        <a:sysClr val="window" lastClr="FFFFFF"/>
      </a:lt1>
      <a:dk2>
        <a:srgbClr val="232C41"/>
      </a:dk2>
      <a:lt2>
        <a:srgbClr val="F6F4EF"/>
      </a:lt2>
      <a:accent1>
        <a:srgbClr val="439EB7"/>
      </a:accent1>
      <a:accent2>
        <a:srgbClr val="E20E65"/>
      </a:accent2>
      <a:accent3>
        <a:srgbClr val="F59324"/>
      </a:accent3>
      <a:accent4>
        <a:srgbClr val="5046B9"/>
      </a:accent4>
      <a:accent5>
        <a:srgbClr val="5CB678"/>
      </a:accent5>
      <a:accent6>
        <a:srgbClr val="9717F7"/>
      </a:accent6>
      <a:hlink>
        <a:srgbClr val="E80095"/>
      </a:hlink>
      <a:folHlink>
        <a:srgbClr val="808080"/>
      </a:folHlink>
    </a:clrScheme>
    <a:fontScheme name="Custom 211">
      <a:majorFont>
        <a:latin typeface="Sitka Banner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8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6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dlinesVTI" id="{66EB4A02-0C0F-47F1-9F48-4E6882B9F967}" vid="{F3552358-4452-4FDA-9568-4F5DA32F7A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1849</Words>
  <Application>Microsoft Office PowerPoint</Application>
  <PresentationFormat>Widescreen</PresentationFormat>
  <Paragraphs>483</Paragraphs>
  <Slides>22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7" baseType="lpstr">
      <vt:lpstr>Arial</vt:lpstr>
      <vt:lpstr>Avenir Next LT Pro</vt:lpstr>
      <vt:lpstr>Consolas</vt:lpstr>
      <vt:lpstr>Sitka Banner</vt:lpstr>
      <vt:lpstr>HeadlinesVTI</vt:lpstr>
      <vt:lpstr>ModuleIOTalonFX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Construtor</vt:lpstr>
      <vt:lpstr>Apresentação do PowerPoint</vt:lpstr>
      <vt:lpstr>Apresentação do PowerPoint</vt:lpstr>
      <vt:lpstr>Construto - Drive</vt:lpstr>
      <vt:lpstr>Apresentação do PowerPoint</vt:lpstr>
      <vt:lpstr>Apresentação do PowerPoint</vt:lpstr>
      <vt:lpstr>Apresentação do PowerPoint</vt:lpstr>
      <vt:lpstr>Apresentação do PowerPoint</vt:lpstr>
      <vt:lpstr>Construtor -STEER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17</cp:revision>
  <dcterms:created xsi:type="dcterms:W3CDTF">2026-09-14T19:41:33Z</dcterms:created>
  <dcterms:modified xsi:type="dcterms:W3CDTF">2026-09-23T18:04:57Z</dcterms:modified>
</cp:coreProperties>
</file>