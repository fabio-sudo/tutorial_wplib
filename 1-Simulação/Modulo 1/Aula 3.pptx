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1F1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15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2815CD-A4EA-4782-E316-4D5D25BBED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1276383-CA39-491E-CEEB-AD0FA9540E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7DAD51-AC99-9A4A-D7CC-C39931B2F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1DF31-3EEB-4210-99FD-E8B6EF139C99}" type="datetimeFigureOut">
              <a:rPr lang="pt-BR" smtClean="0"/>
              <a:t>24/09/2026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A41A8C5-114B-C82D-61D0-9DF61E10F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6B67099-2CC1-58F6-CA75-83CEB2F36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490B4-68DE-444C-9DEF-E572D21B89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8609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E76A8B-C242-7637-D7F7-DD6A65655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F4E33A-CD79-8300-A82C-C5CC37728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CACBCCB-D5C7-A861-DA5B-010F75E74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1DF31-3EEB-4210-99FD-E8B6EF139C99}" type="datetimeFigureOut">
              <a:rPr lang="pt-BR" smtClean="0"/>
              <a:t>24/09/2026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50B4DF-A307-8048-7327-C92C1E412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D3020FE-7DB9-54B7-6A64-08D9BFA0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490B4-68DE-444C-9DEF-E572D21B89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2753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02A857-EF20-7FF2-B6E0-4D18E5876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53188D3-A235-E067-22D7-42FAC7206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70BE2AA-6F63-07FB-60CD-5645B43BB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1DF31-3EEB-4210-99FD-E8B6EF139C99}" type="datetimeFigureOut">
              <a:rPr lang="pt-BR" smtClean="0"/>
              <a:t>24/09/2026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F10661-A791-2302-C4C5-8E1E21D12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EA2577-1CC5-5435-0C64-8D4680FC5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490B4-68DE-444C-9DEF-E572D21B89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2765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8A6C2F-A684-659E-06D7-C14AC6A8F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8C2E75-2C6E-F587-02B6-29BACB7ADF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5240873-35BE-E21D-178A-3D0932831E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FD07484-70E1-E5CA-411E-C53A46041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1DF31-3EEB-4210-99FD-E8B6EF139C99}" type="datetimeFigureOut">
              <a:rPr lang="pt-BR" smtClean="0"/>
              <a:t>24/09/2026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E1A5B8E-4DE4-39E1-9240-C51C87F75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D0C552B-F9CE-A6B9-5200-726A56E30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490B4-68DE-444C-9DEF-E572D21B89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3741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B24607-D15E-9535-786F-1FCF3C627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E643E89-E341-8AEA-154D-ED8104400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3EC00F6-EB75-B2C6-0D7C-DA8DF605FD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86BB8D8-E10C-0B00-2E89-D36DDF4DF4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5A49571-04CD-8505-33CA-14F0F70547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8AA2E5-A4E0-2FB7-D150-20F6DEEC1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1DF31-3EEB-4210-99FD-E8B6EF139C99}" type="datetimeFigureOut">
              <a:rPr lang="pt-BR" smtClean="0"/>
              <a:t>24/09/2026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E031EED-6656-D9B5-541A-B80E5FD90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C52CC8D-0336-6AD5-5E5B-4092804DE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490B4-68DE-444C-9DEF-E572D21B89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910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4CC36C-133B-78E2-32C0-AFBCBD31A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C75D862-5F39-D1A2-552A-B3CC1D547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1DF31-3EEB-4210-99FD-E8B6EF139C99}" type="datetimeFigureOut">
              <a:rPr lang="pt-BR" smtClean="0"/>
              <a:t>24/09/2026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6803E84-937E-8915-BDEA-0EAF86B9B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E86FEC9-5916-8A77-AE2F-60AAD205F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490B4-68DE-444C-9DEF-E572D21B89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80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576EED4-6965-7EC4-FBC3-E85193A3C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1DF31-3EEB-4210-99FD-E8B6EF139C99}" type="datetimeFigureOut">
              <a:rPr lang="pt-BR" smtClean="0"/>
              <a:t>24/09/2026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EEBCC37-5246-875C-3325-00ECC0638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728781B-9B5B-E3CF-182B-B9B958E5B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490B4-68DE-444C-9DEF-E572D21B89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9825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AC7A51-F0C5-AB04-0B81-433948908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7B0070-D954-AE28-C641-BEF341286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881C264-F852-6718-4306-04398FE33A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78EF372-A940-7058-B312-45E2A60AD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1DF31-3EEB-4210-99FD-E8B6EF139C99}" type="datetimeFigureOut">
              <a:rPr lang="pt-BR" smtClean="0"/>
              <a:t>24/09/2026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88F77B5-595D-A638-5B79-A1770EE78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19EBB09-750C-CF8D-69CD-31F0A86C9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490B4-68DE-444C-9DEF-E572D21B89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40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087473-05BB-BC17-9A4A-171E9DFA4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B8F4392-F9EF-8B11-696E-5234FB3CED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5D2FE68-4E76-BEA2-BF29-B6A2287927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BE72A9A-8192-D45A-A737-0E8ECDB0D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1DF31-3EEB-4210-99FD-E8B6EF139C99}" type="datetimeFigureOut">
              <a:rPr lang="pt-BR" smtClean="0"/>
              <a:t>24/09/2026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C3A4D9D-F3E7-C383-03D7-35D1861FD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A588FA-D24A-BB22-2553-11660D608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490B4-68DE-444C-9DEF-E572D21B89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8874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CCAC34-DC76-8AE6-90F0-3ADEA12FA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CCA3C77-7F3A-E0D6-8A03-E3551B41DF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4067A8C-8509-5A5E-6C08-DA2168E7E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1DF31-3EEB-4210-99FD-E8B6EF139C99}" type="datetimeFigureOut">
              <a:rPr lang="pt-BR" smtClean="0"/>
              <a:t>24/09/2026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F282695-751D-131F-3FC0-EBA78E91E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E88ACCF-B448-0EDA-B323-8CD65D242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490B4-68DE-444C-9DEF-E572D21B89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5076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8692F35-B66D-BD79-8E84-5AF65776A0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B259173-DF37-C5A0-61B7-56ABA39AA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3804F2-73A4-9E7B-713F-400F426D7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1DF31-3EEB-4210-99FD-E8B6EF139C99}" type="datetimeFigureOut">
              <a:rPr lang="pt-BR" smtClean="0"/>
              <a:t>24/09/2026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6A5952-7042-9F9C-CD55-947E27AC6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76F8F3-8F77-8442-0019-C13090E39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490B4-68DE-444C-9DEF-E572D21B89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9309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89EB9A5-CD5F-5ED3-1B2A-5CFEA5D94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BF9F875-D033-9E0B-2135-E3D356FBC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AF6825-EA0E-C131-5C62-4765CB6F6F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41DF31-3EEB-4210-99FD-E8B6EF139C99}" type="datetimeFigureOut">
              <a:rPr lang="pt-BR" smtClean="0"/>
              <a:t>24/09/2026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4DE1962-E198-24C1-ABA3-C347857EC2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E8A936-1B4D-6EA8-23EE-DDD00402A1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4490B4-68DE-444C-9DEF-E572D21B89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5379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8C5EE8-3881-FE93-6FFE-FA670A28B6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/>
              <a:t>Swerve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E28763-4C5F-552F-83A5-ADCDFEB286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6040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Imagem 1" descr="Diagrama didático: Fundamentos do Swerve">
            <a:extLst>
              <a:ext uri="{FF2B5EF4-FFF2-40B4-BE49-F238E27FC236}">
                <a16:creationId xmlns:a16="http://schemas.microsoft.com/office/drawing/2014/main" id="{B0D74355-A596-7328-8270-4E878A14C8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268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896E1881-C13A-5B01-698E-C459E128F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73411"/>
            <a:ext cx="2844800" cy="1711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624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B228EBB-31E1-2C83-F970-9A88EF05E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668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A0EF1E-44D2-9073-6F25-D31512153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err="1">
                <a:solidFill>
                  <a:schemeClr val="bg1"/>
                </a:solidFill>
              </a:rPr>
              <a:t>Constants</a:t>
            </a:r>
            <a:endParaRPr lang="pt-BR" b="1" dirty="0">
              <a:solidFill>
                <a:schemeClr val="bg1"/>
              </a:solidFill>
            </a:endParaRP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29B13124-D7D7-6D1E-86F1-136ADB15C6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2204" y="1690688"/>
            <a:ext cx="10387592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925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AD3C28-BC87-6A3D-868F-9837665E0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936" y="228600"/>
            <a:ext cx="5759245" cy="6400800"/>
          </a:xfrm>
        </p:spPr>
        <p:txBody>
          <a:bodyPr>
            <a:normAutofit fontScale="32500" lnSpcReduction="20000"/>
          </a:bodyPr>
          <a:lstStyle/>
          <a:p>
            <a:pPr>
              <a:lnSpc>
                <a:spcPct val="113095"/>
              </a:lnSpc>
              <a:buNone/>
            </a:pPr>
            <a:r>
              <a:rPr lang="pt-BR" sz="280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28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28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pt-BR" sz="28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Constants</a:t>
            </a:r>
            <a:r>
              <a:rPr lang="pt-BR" sz="28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pt-BR" sz="28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lnSpc>
                <a:spcPct val="113095"/>
              </a:lnSpc>
              <a:buNone/>
            </a:pPr>
            <a:r>
              <a:rPr lang="pt-BR" sz="28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280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28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28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pt-BR" sz="28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OperatorConstants</a:t>
            </a:r>
            <a:r>
              <a:rPr lang="pt-BR" sz="28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pt-BR" sz="28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80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28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28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28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sz="28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1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kDriverControllerPort</a:t>
            </a:r>
            <a:r>
              <a:rPr lang="pt-BR" sz="28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8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1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sz="28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28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pt-BR" sz="28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280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28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280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28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28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pt-BR" sz="28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DriveConstants</a:t>
            </a:r>
            <a:r>
              <a:rPr lang="pt-BR" sz="28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endParaRPr lang="pt-BR" sz="280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b="1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t-BR" b="1" dirty="0">
                <a:solidFill>
                  <a:srgbClr val="6A9955"/>
                </a:solidFill>
                <a:latin typeface="Consolas" panose="020B0609020204030204" pitchFamily="49" charset="0"/>
              </a:rPr>
              <a:t>// #region GEOMETRIA DO ROBÔ</a:t>
            </a:r>
            <a:endParaRPr lang="pt-BR" b="1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b="1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t-BR" b="1" dirty="0">
                <a:solidFill>
                  <a:srgbClr val="6A9955"/>
                </a:solidFill>
                <a:latin typeface="Consolas" panose="020B0609020204030204" pitchFamily="49" charset="0"/>
              </a:rPr>
              <a:t>// Distância entre os módulos dianteiros e traseiros</a:t>
            </a:r>
            <a:endParaRPr lang="pt-BR" b="1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b="1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t-BR" b="1" dirty="0">
                <a:solidFill>
                  <a:srgbClr val="6A9955"/>
                </a:solidFill>
                <a:latin typeface="Consolas" panose="020B0609020204030204" pitchFamily="49" charset="0"/>
              </a:rPr>
              <a:t>// Medida de centro a centro dos módulos</a:t>
            </a:r>
            <a:endParaRPr lang="pt-BR" b="1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b="1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t-BR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public</a:t>
            </a:r>
            <a:r>
              <a:rPr lang="pt-BR" b="1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static</a:t>
            </a:r>
            <a:r>
              <a:rPr lang="pt-BR" b="1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b="1" dirty="0">
                <a:solidFill>
                  <a:srgbClr val="569CD6"/>
                </a:solidFill>
                <a:latin typeface="Consolas" panose="020B0609020204030204" pitchFamily="49" charset="0"/>
              </a:rPr>
              <a:t>final</a:t>
            </a:r>
            <a:r>
              <a:rPr lang="pt-BR" b="1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4EC9B0"/>
                </a:solidFill>
                <a:latin typeface="Consolas" panose="020B0609020204030204" pitchFamily="49" charset="0"/>
              </a:rPr>
              <a:t>double</a:t>
            </a:r>
            <a:r>
              <a:rPr lang="pt-BR" b="1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4FC1FF"/>
                </a:solidFill>
                <a:latin typeface="Consolas" panose="020B0609020204030204" pitchFamily="49" charset="0"/>
              </a:rPr>
              <a:t>kWheelBaseMeters</a:t>
            </a:r>
            <a:r>
              <a:rPr lang="pt-BR" b="1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endParaRPr lang="pt-BR" b="1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b="1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t-BR" b="1" dirty="0">
                <a:solidFill>
                  <a:srgbClr val="B5CEA8"/>
                </a:solidFill>
                <a:latin typeface="Consolas" panose="020B0609020204030204" pitchFamily="49" charset="0"/>
              </a:rPr>
              <a:t>0.5461</a:t>
            </a:r>
            <a:r>
              <a:rPr lang="pt-BR" b="1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  <a:br>
              <a:rPr lang="pt-BR" b="1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endParaRPr lang="pt-BR" b="1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b="1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t-BR" b="1" dirty="0">
                <a:solidFill>
                  <a:srgbClr val="6A9955"/>
                </a:solidFill>
                <a:latin typeface="Consolas" panose="020B0609020204030204" pitchFamily="49" charset="0"/>
              </a:rPr>
              <a:t>// Distância entre os módulos da esquerda e direita</a:t>
            </a:r>
            <a:endParaRPr lang="pt-BR" b="1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b="1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t-BR" b="1" dirty="0">
                <a:solidFill>
                  <a:srgbClr val="6A9955"/>
                </a:solidFill>
                <a:latin typeface="Consolas" panose="020B0609020204030204" pitchFamily="49" charset="0"/>
              </a:rPr>
              <a:t>// Medida de centro a centro dos módulos</a:t>
            </a:r>
            <a:endParaRPr lang="pt-BR" b="1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b="1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t-BR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public</a:t>
            </a:r>
            <a:r>
              <a:rPr lang="pt-BR" b="1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static</a:t>
            </a:r>
            <a:r>
              <a:rPr lang="pt-BR" b="1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b="1" dirty="0">
                <a:solidFill>
                  <a:srgbClr val="569CD6"/>
                </a:solidFill>
                <a:latin typeface="Consolas" panose="020B0609020204030204" pitchFamily="49" charset="0"/>
              </a:rPr>
              <a:t>final</a:t>
            </a:r>
            <a:r>
              <a:rPr lang="pt-BR" b="1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4EC9B0"/>
                </a:solidFill>
                <a:latin typeface="Consolas" panose="020B0609020204030204" pitchFamily="49" charset="0"/>
              </a:rPr>
              <a:t>double</a:t>
            </a:r>
            <a:r>
              <a:rPr lang="pt-BR" b="1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4FC1FF"/>
                </a:solidFill>
                <a:latin typeface="Consolas" panose="020B0609020204030204" pitchFamily="49" charset="0"/>
              </a:rPr>
              <a:t>kTrackWidthMeters</a:t>
            </a:r>
            <a:r>
              <a:rPr lang="pt-BR" b="1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endParaRPr lang="pt-BR" b="1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b="1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t-BR" b="1" dirty="0">
                <a:solidFill>
                  <a:srgbClr val="B5CEA8"/>
                </a:solidFill>
                <a:latin typeface="Consolas" panose="020B0609020204030204" pitchFamily="49" charset="0"/>
              </a:rPr>
              <a:t>0.5461</a:t>
            </a:r>
            <a:r>
              <a:rPr lang="pt-BR" b="1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endParaRPr lang="pt-BR" b="1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b="1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t-BR" b="1" dirty="0">
                <a:solidFill>
                  <a:srgbClr val="6A9955"/>
                </a:solidFill>
                <a:latin typeface="Consolas" panose="020B0609020204030204" pitchFamily="49" charset="0"/>
              </a:rPr>
              <a:t>// Raio da roda do módulo </a:t>
            </a:r>
            <a:r>
              <a:rPr lang="pt-BR" b="1" dirty="0" err="1">
                <a:solidFill>
                  <a:srgbClr val="6A9955"/>
                </a:solidFill>
                <a:latin typeface="Consolas" panose="020B0609020204030204" pitchFamily="49" charset="0"/>
              </a:rPr>
              <a:t>Swerve</a:t>
            </a:r>
            <a:endParaRPr lang="pt-BR" b="1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b="1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t-BR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public</a:t>
            </a:r>
            <a:r>
              <a:rPr lang="pt-BR" b="1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static</a:t>
            </a:r>
            <a:r>
              <a:rPr lang="pt-BR" b="1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b="1" dirty="0">
                <a:solidFill>
                  <a:srgbClr val="569CD6"/>
                </a:solidFill>
                <a:latin typeface="Consolas" panose="020B0609020204030204" pitchFamily="49" charset="0"/>
              </a:rPr>
              <a:t>final</a:t>
            </a:r>
            <a:r>
              <a:rPr lang="pt-BR" b="1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4EC9B0"/>
                </a:solidFill>
                <a:latin typeface="Consolas" panose="020B0609020204030204" pitchFamily="49" charset="0"/>
              </a:rPr>
              <a:t>double</a:t>
            </a:r>
            <a:r>
              <a:rPr lang="pt-BR" b="1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4FC1FF"/>
                </a:solidFill>
                <a:latin typeface="Consolas" panose="020B0609020204030204" pitchFamily="49" charset="0"/>
              </a:rPr>
              <a:t>kWheelRadiusMeters</a:t>
            </a:r>
            <a:r>
              <a:rPr lang="pt-BR" b="1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b="1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b="1" dirty="0">
                <a:solidFill>
                  <a:srgbClr val="B5CEA8"/>
                </a:solidFill>
                <a:latin typeface="Consolas" panose="020B0609020204030204" pitchFamily="49" charset="0"/>
              </a:rPr>
              <a:t>0.0508</a:t>
            </a:r>
            <a:r>
              <a:rPr lang="pt-BR" b="1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endParaRPr lang="pt-BR" b="1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b="1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t-BR" b="1" dirty="0">
                <a:solidFill>
                  <a:srgbClr val="6A9955"/>
                </a:solidFill>
                <a:latin typeface="Consolas" panose="020B0609020204030204" pitchFamily="49" charset="0"/>
              </a:rPr>
              <a:t>// #endregion</a:t>
            </a:r>
            <a:endParaRPr lang="pt-BR" b="1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28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ct val="113095"/>
              </a:lnSpc>
              <a:buNone/>
            </a:pPr>
            <a:r>
              <a:rPr lang="pt-BR" sz="28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13095"/>
              </a:lnSpc>
              <a:buNone/>
            </a:pPr>
            <a:endParaRPr lang="pt-BR" sz="280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454754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A503D73-FBC6-7460-60E4-7EB10A80E6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698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74D4A0B-D9F7-38A2-42DA-2C919FD37C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1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174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447AD2-F9B0-5EA2-FDD1-D2CA64756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080819" cy="1325563"/>
          </a:xfrm>
        </p:spPr>
        <p:txBody>
          <a:bodyPr>
            <a:normAutofit/>
          </a:bodyPr>
          <a:lstStyle/>
          <a:p>
            <a:r>
              <a:rPr lang="pt-BR" sz="2000" b="1" dirty="0"/>
              <a:t>Posição da </a:t>
            </a:r>
            <a:r>
              <a:rPr lang="pt-BR" sz="2000" b="1" dirty="0" err="1"/>
              <a:t>Swerve</a:t>
            </a:r>
            <a:r>
              <a:rPr lang="pt-BR" sz="2000" b="1" dirty="0"/>
              <a:t> em relação ao </a:t>
            </a:r>
            <a:r>
              <a:rPr lang="pt-BR" sz="2000" b="1" dirty="0" err="1"/>
              <a:t>robo</a:t>
            </a:r>
            <a:endParaRPr lang="pt-BR" sz="2000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F5CC57-6C5A-D64B-2505-6BED39FDE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3929" y="102559"/>
            <a:ext cx="5257800" cy="352608"/>
          </a:xfrm>
        </p:spPr>
        <p:txBody>
          <a:bodyPr>
            <a:norm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40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4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40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4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4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frc</a:t>
            </a:r>
            <a:r>
              <a:rPr lang="pt-BR" sz="140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4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robot</a:t>
            </a:r>
            <a:r>
              <a:rPr lang="pt-BR" sz="140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4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Constants</a:t>
            </a:r>
            <a:r>
              <a:rPr lang="pt-BR" sz="140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4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DriveConstants</a:t>
            </a:r>
            <a:r>
              <a:rPr lang="pt-BR" sz="14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.*</a:t>
            </a:r>
            <a:r>
              <a:rPr lang="pt-BR" sz="14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pt-BR" sz="1400" b="1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F60B658-F72D-BD19-CB10-5C18FAFDE4CC}"/>
              </a:ext>
            </a:extLst>
          </p:cNvPr>
          <p:cNvSpPr txBox="1"/>
          <p:nvPr/>
        </p:nvSpPr>
        <p:spPr>
          <a:xfrm>
            <a:off x="0" y="922697"/>
            <a:ext cx="39206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O </a:t>
            </a:r>
            <a:r>
              <a:rPr lang="pt-BR" dirty="0">
                <a:latin typeface="+mn-lt"/>
              </a:rPr>
              <a:t>Translation2d</a:t>
            </a:r>
            <a:r>
              <a:rPr lang="pt-BR" dirty="0"/>
              <a:t> vai representar onde cada módulo está em relação ao centro do robô.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700BA1A-00C0-0EAD-3389-89A1E1D719C4}"/>
              </a:ext>
            </a:extLst>
          </p:cNvPr>
          <p:cNvSpPr txBox="1"/>
          <p:nvPr/>
        </p:nvSpPr>
        <p:spPr>
          <a:xfrm>
            <a:off x="6363929" y="455167"/>
            <a:ext cx="6096000" cy="6472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POSIÇÃO DOS MÓDULOS SWERVE</a:t>
            </a:r>
            <a:endParaRPr lang="pt-BR" sz="105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FL - Front </a:t>
            </a:r>
            <a:r>
              <a:rPr lang="pt-BR" sz="1050" b="1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Left</a:t>
            </a:r>
            <a:endParaRPr lang="pt-BR" sz="105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Translation2d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frontLeftLocation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1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Translation2d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1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kWheelBaseMeters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2.0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1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kTrackWidthMeters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2.0</a:t>
            </a:r>
            <a:endParaRPr lang="pt-BR" sz="105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FR - Front </a:t>
            </a:r>
            <a:r>
              <a:rPr lang="pt-BR" sz="1050" b="1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Right</a:t>
            </a:r>
            <a:endParaRPr lang="pt-BR" sz="105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Translation2d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frontRightLocation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1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Translation2d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1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kWheelBaseMeters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2.0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1050" b="1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kTrackWidthMeters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2.0</a:t>
            </a:r>
            <a:endParaRPr lang="pt-BR" sz="105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BL - Back </a:t>
            </a:r>
            <a:r>
              <a:rPr lang="pt-BR" sz="1050" b="1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Left</a:t>
            </a:r>
            <a:endParaRPr lang="pt-BR" sz="105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Translation2d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backLeftLocation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1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Translation2d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1050" b="1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kWheelBaseMeters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2.0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1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kTrackWidthMeters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2.0</a:t>
            </a:r>
            <a:endParaRPr lang="pt-BR" sz="105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BR - Back </a:t>
            </a:r>
            <a:r>
              <a:rPr lang="pt-BR" sz="1050" b="1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Right</a:t>
            </a:r>
            <a:endParaRPr lang="pt-BR" sz="105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Translation2d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backRightLocation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1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Translation2d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1050" b="1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kWheelBaseMeters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2.0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1050" b="1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kTrackWidthMeters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2.0</a:t>
            </a:r>
            <a:endParaRPr lang="pt-BR" sz="105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93C83C6-873A-4390-595F-C3125CE9DC77}"/>
              </a:ext>
            </a:extLst>
          </p:cNvPr>
          <p:cNvSpPr txBox="1"/>
          <p:nvPr/>
        </p:nvSpPr>
        <p:spPr>
          <a:xfrm>
            <a:off x="-1" y="2055146"/>
            <a:ext cx="508081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0" i="0" dirty="0">
                <a:effectLst/>
                <a:latin typeface="+mn-lt"/>
              </a:rPr>
              <a:t>A convenção usada é </a:t>
            </a:r>
          </a:p>
          <a:p>
            <a:r>
              <a:rPr lang="pt-BR" sz="1800" b="0" i="0" dirty="0">
                <a:effectLst/>
                <a:latin typeface="+mn-lt"/>
              </a:rPr>
              <a:t>FL (+X,+Y), FR (+X,-Y), BL (-X,+Y) e BR (-X,-Y). </a:t>
            </a:r>
          </a:p>
          <a:p>
            <a:r>
              <a:rPr lang="pt-BR" sz="1800" b="0" i="0" dirty="0">
                <a:effectLst/>
                <a:latin typeface="+mn-lt"/>
              </a:rPr>
              <a:t>A ordem declarada aqui deve ser mantida em todo o projeto.</a:t>
            </a:r>
            <a:endParaRPr lang="pt-BR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8830378C-A448-0C3B-11C2-D315E841C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458" y="3688270"/>
            <a:ext cx="1691384" cy="1136866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C5F8AEBC-26D9-1D8F-09F1-1C32F251D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458" y="5496834"/>
            <a:ext cx="1448505" cy="1154277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929B44C5-520A-327D-6934-30EC4930ED95}"/>
              </a:ext>
            </a:extLst>
          </p:cNvPr>
          <p:cNvSpPr txBox="1"/>
          <p:nvPr/>
        </p:nvSpPr>
        <p:spPr>
          <a:xfrm>
            <a:off x="284219" y="5081450"/>
            <a:ext cx="18290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0" i="0" dirty="0">
                <a:effectLst/>
                <a:latin typeface="+mn-lt"/>
              </a:rPr>
              <a:t>convenção</a:t>
            </a:r>
            <a:endParaRPr lang="pt-BR" dirty="0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36448D13-BF5B-8A41-2345-3D314B7BDE53}"/>
              </a:ext>
            </a:extLst>
          </p:cNvPr>
          <p:cNvSpPr txBox="1"/>
          <p:nvPr/>
        </p:nvSpPr>
        <p:spPr>
          <a:xfrm>
            <a:off x="284219" y="3318938"/>
            <a:ext cx="27010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WPILib</a:t>
            </a:r>
            <a:r>
              <a:rPr lang="pt-BR" dirty="0"/>
              <a:t> efetivamente terá</a:t>
            </a: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948AC6CA-8D3B-8119-7952-95FE2D5AAB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9678" y="3985058"/>
            <a:ext cx="3098394" cy="2284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548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C625B60-43C7-B81E-0DA4-D8281DBFD2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204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807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C272F9-8E23-6B0D-800D-E0F7ADA1B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8800" dirty="0" err="1"/>
              <a:t>Kinematics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AE5A60C-EB83-9D90-D68C-9BA1C9243EF8}"/>
              </a:ext>
            </a:extLst>
          </p:cNvPr>
          <p:cNvSpPr txBox="1"/>
          <p:nvPr/>
        </p:nvSpPr>
        <p:spPr>
          <a:xfrm>
            <a:off x="838200" y="149495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O </a:t>
            </a:r>
            <a:r>
              <a:rPr lang="pt-BR" dirty="0" err="1">
                <a:latin typeface="+mn-lt"/>
              </a:rPr>
              <a:t>SwerveDriveKinematics</a:t>
            </a:r>
            <a:r>
              <a:rPr lang="pt-BR" dirty="0"/>
              <a:t> será o objeto responsável por transformar o movimento do chassi nos movimentos dos quatro módulos.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C2C40D7-264D-BD9E-D79E-D978A7509397}"/>
              </a:ext>
            </a:extLst>
          </p:cNvPr>
          <p:cNvSpPr txBox="1"/>
          <p:nvPr/>
        </p:nvSpPr>
        <p:spPr>
          <a:xfrm>
            <a:off x="838200" y="6023525"/>
            <a:ext cx="11255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Sabendo onde estão os quatro módulos, como cada roda deve se mover para o robô andar na direção desejada?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D851AFF-C78A-9504-F851-63F0EA9FF2D8}"/>
              </a:ext>
            </a:extLst>
          </p:cNvPr>
          <p:cNvSpPr txBox="1"/>
          <p:nvPr/>
        </p:nvSpPr>
        <p:spPr>
          <a:xfrm>
            <a:off x="838200" y="2820518"/>
            <a:ext cx="6096000" cy="2272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CINEMÁTICA DO SWERVE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SwerveDriveKinematics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kinematics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SwerveDriveKinematics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frontLeftLocation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frontRightLocation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backLeftLocation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backRightLocation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D2E2F078-6AB4-3603-DB3F-541B42C2C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0383" y="2820518"/>
            <a:ext cx="2181529" cy="1905266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61EF149D-9649-E6FF-42B0-144058D82464}"/>
              </a:ext>
            </a:extLst>
          </p:cNvPr>
          <p:cNvSpPr txBox="1"/>
          <p:nvPr/>
        </p:nvSpPr>
        <p:spPr>
          <a:xfrm>
            <a:off x="838200" y="2487442"/>
            <a:ext cx="6096000" cy="263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edu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wpi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kinematics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SwerveDriveKinematics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077802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7483864-F7EF-7680-5B6E-A5C8C99B63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31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922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B65807-983F-6508-68CC-7689E6EA5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Chassi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2B7A115-5D8C-8431-0BA6-BC4FD33954AE}"/>
              </a:ext>
            </a:extLst>
          </p:cNvPr>
          <p:cNvSpPr txBox="1"/>
          <p:nvPr/>
        </p:nvSpPr>
        <p:spPr>
          <a:xfrm>
            <a:off x="838200" y="1512049"/>
            <a:ext cx="540897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pt-BR" b="1" i="0" dirty="0">
                <a:solidFill>
                  <a:schemeClr val="tx1"/>
                </a:solidFill>
                <a:effectLst/>
                <a:latin typeface="+mn-lt"/>
              </a:rPr>
              <a:t>Converter intenção do chassi</a:t>
            </a:r>
          </a:p>
          <a:p>
            <a:pPr indent="0" algn="l">
              <a:buNone/>
            </a:pPr>
            <a:r>
              <a:rPr lang="pt-BR" sz="1800" b="0" i="0" dirty="0" err="1">
                <a:effectLst/>
                <a:latin typeface="+mn-lt"/>
              </a:rPr>
              <a:t>ChassisSpeeds</a:t>
            </a:r>
            <a:r>
              <a:rPr lang="pt-BR" sz="1800" b="0" i="0" dirty="0">
                <a:effectLst/>
                <a:latin typeface="+mn-lt"/>
              </a:rPr>
              <a:t> reúne avanço, deslocamento lateral e rotação. A cinemática calcula um estado para cada roda e a dessaturação preserva a proporção entre elas.</a:t>
            </a:r>
            <a:endParaRPr lang="pt-BR" sz="1050" b="0" i="0" dirty="0">
              <a:effectLst/>
              <a:latin typeface="Geist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4C6D98E-3CBE-F09C-56E8-A37505C31386}"/>
              </a:ext>
            </a:extLst>
          </p:cNvPr>
          <p:cNvSpPr txBox="1"/>
          <p:nvPr/>
        </p:nvSpPr>
        <p:spPr>
          <a:xfrm>
            <a:off x="838200" y="3610340"/>
            <a:ext cx="49935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 err="1"/>
              <a:t>Periodic</a:t>
            </a:r>
            <a:r>
              <a:rPr lang="pt-BR" b="1" dirty="0"/>
              <a:t>()</a:t>
            </a:r>
          </a:p>
          <a:p>
            <a:r>
              <a:rPr lang="pt-BR" dirty="0"/>
              <a:t>Por enquanto vamos mandar o robô “andar para frente” a </a:t>
            </a:r>
            <a:r>
              <a:rPr lang="pt-BR" dirty="0">
                <a:latin typeface="+mn-lt"/>
              </a:rPr>
              <a:t>1 m/s</a:t>
            </a:r>
            <a:r>
              <a:rPr lang="pt-BR" dirty="0"/>
              <a:t>: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26D1479-8C51-862D-0C9A-82E679E3C927}"/>
              </a:ext>
            </a:extLst>
          </p:cNvPr>
          <p:cNvSpPr txBox="1"/>
          <p:nvPr/>
        </p:nvSpPr>
        <p:spPr>
          <a:xfrm>
            <a:off x="6518786" y="567920"/>
            <a:ext cx="5408971" cy="5924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pt-BR" sz="1050" b="1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pt-BR" sz="105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periodic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1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Envia a pose atual para o </a:t>
            </a:r>
            <a:r>
              <a:rPr lang="pt-BR" sz="1050" b="1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AdvantageKit</a:t>
            </a:r>
            <a:endParaRPr lang="pt-BR" sz="105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1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1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1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1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Robot</a:t>
            </a:r>
            <a:r>
              <a:rPr lang="pt-BR" sz="1050" b="1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/Pose"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050" b="1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pose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1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1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TESTE DO MOVIMENTO DO CHASSI</a:t>
            </a:r>
            <a:endParaRPr lang="pt-BR" sz="105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1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ChassisSpeeds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chassisSpeeds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pt-BR" sz="1050" b="1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ChassisSpeeds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pt-BR" sz="1050" b="1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 </a:t>
            </a:r>
            <a:r>
              <a:rPr lang="pt-BR" sz="1050" b="1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1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vx</a:t>
            </a:r>
            <a:r>
              <a:rPr lang="pt-BR" sz="1050" b="1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= 1 m/s para frente</a:t>
            </a:r>
            <a:endParaRPr lang="pt-BR" sz="105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pt-BR" sz="1050" b="1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 </a:t>
            </a:r>
            <a:r>
              <a:rPr lang="pt-BR" sz="1050" b="1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1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vy</a:t>
            </a:r>
            <a:r>
              <a:rPr lang="pt-BR" sz="1050" b="1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= 0 m/s lateral</a:t>
            </a:r>
            <a:endParaRPr lang="pt-BR" sz="105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pt-BR" sz="1050" b="1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pt-BR" sz="1050" b="1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1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omega</a:t>
            </a:r>
            <a:r>
              <a:rPr lang="pt-BR" sz="1050" b="1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= 0 </a:t>
            </a:r>
            <a:r>
              <a:rPr lang="pt-BR" sz="1050" b="1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rad</a:t>
            </a:r>
            <a:r>
              <a:rPr lang="pt-BR" sz="1050" b="1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/s</a:t>
            </a:r>
            <a:endParaRPr lang="pt-BR" sz="105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1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Converte o movimento do robô</a:t>
            </a:r>
            <a:endParaRPr lang="pt-BR" sz="105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1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para o estado individual de cada módulo </a:t>
            </a:r>
            <a:r>
              <a:rPr lang="pt-BR" sz="1050" b="1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Swerve</a:t>
            </a:r>
            <a:endParaRPr lang="pt-BR" sz="105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SwerveModuleState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pt-BR" sz="1050" b="1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moduleStates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pt-BR" sz="1050" b="1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kinematics</a:t>
            </a:r>
            <a:r>
              <a:rPr lang="pt-BR" sz="1050" b="1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1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toSwerveModuleStates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1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chassisSpeeds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1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Envia os estados dos 4 módulos para o </a:t>
            </a:r>
            <a:r>
              <a:rPr lang="pt-BR" sz="1050" b="1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AdvantageKit</a:t>
            </a:r>
            <a:endParaRPr lang="pt-BR" sz="105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1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1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1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"Drive/</a:t>
            </a:r>
            <a:r>
              <a:rPr lang="pt-BR" sz="1050" b="1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SwerveStates</a:t>
            </a:r>
            <a:r>
              <a:rPr lang="pt-BR" sz="1050" b="1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050" b="1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moduleStates</a:t>
            </a: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</p:txBody>
      </p:sp>
    </p:spTree>
    <p:extLst>
      <p:ext uri="{BB962C8B-B14F-4D97-AF65-F5344CB8AC3E}">
        <p14:creationId xmlns:p14="http://schemas.microsoft.com/office/powerpoint/2010/main" val="4208772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17AD152-A6F7-2C1C-E9D0-31148D497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06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415F0364-6B2C-9DD8-660B-44420710B8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661" b="983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40EC9D1-5BF7-6C61-9768-8BBA0FA4A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5690" y="0"/>
            <a:ext cx="6747510" cy="335280"/>
          </a:xfrm>
          <a:solidFill>
            <a:schemeClr val="bg1">
              <a:alpha val="75000"/>
            </a:schemeClr>
          </a:solidFill>
          <a:ln w="3810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wrap="square">
            <a:normAutofit fontScale="90000"/>
          </a:bodyPr>
          <a:lstStyle/>
          <a:p>
            <a:pPr algn="ctr"/>
            <a:r>
              <a:rPr lang="pt-BR" sz="28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Exercicio</a:t>
            </a:r>
            <a:r>
              <a:rPr lang="pt-BR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medir dimensões </a:t>
            </a:r>
            <a:r>
              <a:rPr lang="pt-BR" sz="28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robo</a:t>
            </a:r>
            <a:endParaRPr lang="pt-BR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98826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F43C5C6-8745-3B3A-7495-AEB933D03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457200"/>
            <a:ext cx="105664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2153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596</Words>
  <Application>Microsoft Office PowerPoint</Application>
  <PresentationFormat>Widescreen</PresentationFormat>
  <Paragraphs>110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Consolas</vt:lpstr>
      <vt:lpstr>Geist</vt:lpstr>
      <vt:lpstr>Tema do Office</vt:lpstr>
      <vt:lpstr>Swerve</vt:lpstr>
      <vt:lpstr>Apresentação do PowerPoint</vt:lpstr>
      <vt:lpstr>Apresentação do PowerPoint</vt:lpstr>
      <vt:lpstr>Constants</vt:lpstr>
      <vt:lpstr>Apresentação do PowerPoint</vt:lpstr>
      <vt:lpstr>Apresentação do PowerPoint</vt:lpstr>
      <vt:lpstr>Apresentação do PowerPoint</vt:lpstr>
      <vt:lpstr>Posição da Swerve em relação ao robo</vt:lpstr>
      <vt:lpstr>Apresentação do PowerPoint</vt:lpstr>
      <vt:lpstr>Kinematics</vt:lpstr>
      <vt:lpstr>Apresentação do PowerPoint</vt:lpstr>
      <vt:lpstr>Chassi</vt:lpstr>
      <vt:lpstr>Apresentação do PowerPoint</vt:lpstr>
      <vt:lpstr>Exercicio medir dimensões robo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Henrique Trevezane</dc:creator>
  <cp:lastModifiedBy>Fabio Henrique Trevezane</cp:lastModifiedBy>
  <cp:revision>16</cp:revision>
  <dcterms:created xsi:type="dcterms:W3CDTF">2026-09-08T23:41:53Z</dcterms:created>
  <dcterms:modified xsi:type="dcterms:W3CDTF">2026-09-24T17:57:21Z</dcterms:modified>
</cp:coreProperties>
</file>