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44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551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666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15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591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64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27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81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49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9D64F-09AD-4078-89C9-37D19BF75B55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D9830-3181-4288-8EAA-858DE0B8AE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156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6147AE2-E55B-9164-0D00-CBDD82BFD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pt-BR" sz="7200">
                <a:solidFill>
                  <a:schemeClr val="bg1"/>
                </a:solidFill>
              </a:rPr>
              <a:t>PID do Steer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845E7A-0335-9420-B783-534467497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pt-BR" sz="2200" b="1">
                <a:solidFill>
                  <a:schemeClr val="bg1"/>
                </a:solidFill>
              </a:rPr>
              <a:t>está funcionando e já conseguimos enxergar os logs no AdvantageScope</a:t>
            </a:r>
            <a:r>
              <a:rPr lang="pt-BR" sz="2200">
                <a:solidFill>
                  <a:schemeClr val="bg1"/>
                </a:solidFill>
              </a:rPr>
              <a:t>, vamos fechar o controle do módulo de forma profissional.</a:t>
            </a:r>
          </a:p>
        </p:txBody>
      </p:sp>
    </p:spTree>
    <p:extLst>
      <p:ext uri="{BB962C8B-B14F-4D97-AF65-F5344CB8AC3E}">
        <p14:creationId xmlns:p14="http://schemas.microsoft.com/office/powerpoint/2010/main" val="405180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EE7149-9B1C-52D4-1CD9-39CDF618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anchor="t">
            <a:normAutofit/>
          </a:bodyPr>
          <a:lstStyle/>
          <a:p>
            <a:r>
              <a:rPr lang="pt-BR" sz="4000" b="1"/>
              <a:t>Validar e ajustar o PID do Steer</a:t>
            </a:r>
            <a:endParaRPr lang="pt-BR" sz="40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A21143-0C0D-2A29-1AFB-F295BACBE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03160"/>
            <a:ext cx="8740775" cy="2454300"/>
          </a:xfrm>
        </p:spPr>
        <p:txBody>
          <a:bodyPr>
            <a:normAutofit/>
          </a:bodyPr>
          <a:lstStyle/>
          <a:p>
            <a:pPr lvl="0"/>
            <a:r>
              <a:rPr lang="pt-BR" sz="2400">
                <a:solidFill>
                  <a:schemeClr val="tx1">
                    <a:alpha val="80000"/>
                  </a:schemeClr>
                </a:solidFill>
              </a:rPr>
              <a:t>comparar DesiredState x OptimizedState </a:t>
            </a:r>
          </a:p>
          <a:p>
            <a:pPr lvl="0"/>
            <a:r>
              <a:rPr lang="pt-BR" sz="2400">
                <a:solidFill>
                  <a:schemeClr val="tx1">
                    <a:alpha val="80000"/>
                  </a:schemeClr>
                </a:solidFill>
              </a:rPr>
              <a:t>observar TurnErrorRad </a:t>
            </a:r>
          </a:p>
          <a:p>
            <a:pPr lvl="0"/>
            <a:r>
              <a:rPr lang="pt-BR" sz="2400">
                <a:solidFill>
                  <a:schemeClr val="tx1">
                    <a:alpha val="80000"/>
                  </a:schemeClr>
                </a:solidFill>
              </a:rPr>
              <a:t>observar TurnPIDOutputVolts </a:t>
            </a:r>
          </a:p>
          <a:p>
            <a:pPr lvl="0"/>
            <a:r>
              <a:rPr lang="pt-BR" sz="2400">
                <a:solidFill>
                  <a:schemeClr val="tx1">
                    <a:alpha val="80000"/>
                  </a:schemeClr>
                </a:solidFill>
              </a:rPr>
              <a:t>verificar se TurnAtSetpoint chega em true </a:t>
            </a:r>
          </a:p>
          <a:p>
            <a:pPr lvl="0"/>
            <a:r>
              <a:rPr lang="pt-BR" sz="2400">
                <a:solidFill>
                  <a:schemeClr val="tx1">
                    <a:alpha val="80000"/>
                  </a:schemeClr>
                </a:solidFill>
              </a:rPr>
              <a:t>testar principalmente movimento lateral e diagonais</a:t>
            </a:r>
          </a:p>
          <a:p>
            <a:endParaRPr lang="pt-BR" sz="24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69564AAB-ACBB-D4EF-848A-F0650E317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843" y="1590418"/>
            <a:ext cx="3000794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09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F477FB-66D1-599E-E14B-6F0DC21E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Nova Estrutura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7C38EAD-DD55-B6E3-C09C-E953E07C3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1343" y="643466"/>
            <a:ext cx="487264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3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CA7D6-89E1-C554-7BBA-0AE8BD72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355" y="405765"/>
            <a:ext cx="4768645" cy="1325563"/>
          </a:xfrm>
        </p:spPr>
        <p:txBody>
          <a:bodyPr/>
          <a:lstStyle/>
          <a:p>
            <a:r>
              <a:rPr lang="pt-BR" b="1" dirty="0" err="1"/>
              <a:t>Constants</a:t>
            </a:r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F53D50-F55D-B038-77D0-F7FD2DF51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1101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864DFCF-5B5C-BE25-2FD8-58054E5A3123}"/>
              </a:ext>
            </a:extLst>
          </p:cNvPr>
          <p:cNvSpPr txBox="1"/>
          <p:nvPr/>
        </p:nvSpPr>
        <p:spPr>
          <a:xfrm>
            <a:off x="7296355" y="1731328"/>
            <a:ext cx="4768645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PID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de velocidade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Feedforward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mínima aproximada para começar a movimentar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Valor inicial para a simulação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Aproximação inicial baseada em: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12 V / 4.58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kDriveKv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4.58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45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C178DE-EC3C-7E99-AAC3-DC803DE24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987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6D529BC-6313-7068-3F8B-DA0401BB4091}"/>
              </a:ext>
            </a:extLst>
          </p:cNvPr>
          <p:cNvSpPr txBox="1"/>
          <p:nvPr/>
        </p:nvSpPr>
        <p:spPr>
          <a:xfrm>
            <a:off x="7030064" y="2292663"/>
            <a:ext cx="4837471" cy="2272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//PID DO DRIVE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SimpleMotorFeedforward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kDriveKp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kDriveKi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kDriveKv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10AEB37-349A-333B-173E-E1B60239B8F2}"/>
              </a:ext>
            </a:extLst>
          </p:cNvPr>
          <p:cNvSpPr txBox="1">
            <a:spLocks/>
          </p:cNvSpPr>
          <p:nvPr/>
        </p:nvSpPr>
        <p:spPr>
          <a:xfrm>
            <a:off x="7296355" y="405765"/>
            <a:ext cx="476864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err="1"/>
              <a:t>Import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391644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0FD23E-BD1B-5CE8-5B12-F6955E5D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694" y="0"/>
            <a:ext cx="702064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8F646C5-E51D-733C-5AB8-504D4CB9FF24}"/>
              </a:ext>
            </a:extLst>
          </p:cNvPr>
          <p:cNvSpPr txBox="1"/>
          <p:nvPr/>
        </p:nvSpPr>
        <p:spPr>
          <a:xfrm>
            <a:off x="7080291" y="1068546"/>
            <a:ext cx="4984709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CONTROLE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responsável por corrigir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velocidade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drivePID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Feedforward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estima aproximadamente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tensão necessária para atingir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determinada velocidade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SimpleMotorFeedforward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driveFeedforward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SimpleMotorFeedforward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kDriveKv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4E6AC67-5E75-7569-2D95-93842F0766C7}"/>
              </a:ext>
            </a:extLst>
          </p:cNvPr>
          <p:cNvSpPr txBox="1">
            <a:spLocks/>
          </p:cNvSpPr>
          <p:nvPr/>
        </p:nvSpPr>
        <p:spPr>
          <a:xfrm>
            <a:off x="7296355" y="405765"/>
            <a:ext cx="476864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/>
              <a:t>Método  Controle Drive</a:t>
            </a:r>
          </a:p>
        </p:txBody>
      </p:sp>
      <p:pic>
        <p:nvPicPr>
          <p:cNvPr id="9" name="Espaço Reservado para Conteúdo 4">
            <a:extLst>
              <a:ext uri="{FF2B5EF4-FFF2-40B4-BE49-F238E27FC236}">
                <a16:creationId xmlns:a16="http://schemas.microsoft.com/office/drawing/2014/main" id="{60B4E939-C966-9A46-A2C1-22DA3785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47" y="5275988"/>
            <a:ext cx="1997629" cy="146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90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AD7DCB3-2056-5B10-7BA4-06108AB07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57884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E4E8771-4A05-DF34-B4AE-A3C63E3ACE56}"/>
              </a:ext>
            </a:extLst>
          </p:cNvPr>
          <p:cNvSpPr txBox="1"/>
          <p:nvPr/>
        </p:nvSpPr>
        <p:spPr>
          <a:xfrm>
            <a:off x="6931743" y="2780078"/>
            <a:ext cx="5260258" cy="1907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CONFIGURAÇÃO DO PID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Considera a velocidade correta quando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estiver a até 0.05 m/s do alvo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setTolerance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B67D853-5CE4-0701-71DC-83F380CFEBB6}"/>
              </a:ext>
            </a:extLst>
          </p:cNvPr>
          <p:cNvSpPr txBox="1">
            <a:spLocks/>
          </p:cNvSpPr>
          <p:nvPr/>
        </p:nvSpPr>
        <p:spPr>
          <a:xfrm>
            <a:off x="7296355" y="405765"/>
            <a:ext cx="476864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/>
              <a:t>Limite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9A90CFF-9265-51AB-2AF6-0D0E6C9E1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121" y="4886250"/>
            <a:ext cx="3063452" cy="180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73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F5E337F-C5AE-4F69-7A3E-E72598667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70459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BF09AE8D-5210-34EE-D2C8-F7A225B7A6A0}"/>
              </a:ext>
            </a:extLst>
          </p:cNvPr>
          <p:cNvSpPr/>
          <p:nvPr/>
        </p:nvSpPr>
        <p:spPr>
          <a:xfrm rot="13535343" flipV="1">
            <a:off x="5438742" y="3268373"/>
            <a:ext cx="1835420" cy="13538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Substituir</a:t>
            </a:r>
          </a:p>
          <a:p>
            <a:pPr algn="ctr"/>
            <a:r>
              <a:rPr lang="pt-BR" dirty="0"/>
              <a:t>código próximo slide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BE1BCFD-038D-8EBA-16E1-2D2D1C2D8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619" y="1019051"/>
            <a:ext cx="2229161" cy="177189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4C882EB-644C-B73B-2C37-0B987F4FF456}"/>
              </a:ext>
            </a:extLst>
          </p:cNvPr>
          <p:cNvSpPr txBox="1"/>
          <p:nvPr/>
        </p:nvSpPr>
        <p:spPr>
          <a:xfrm>
            <a:off x="7724619" y="493760"/>
            <a:ext cx="4467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/>
              <a:t>Antes: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141A1FF-D849-AAC3-0E04-6A7884497C2F}"/>
              </a:ext>
            </a:extLst>
          </p:cNvPr>
          <p:cNvSpPr txBox="1"/>
          <p:nvPr/>
        </p:nvSpPr>
        <p:spPr>
          <a:xfrm>
            <a:off x="7704827" y="2982708"/>
            <a:ext cx="4467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Agora: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A7E55EA-DC0D-A187-7A99-FD3A57FD0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619" y="3429000"/>
            <a:ext cx="291280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08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B0B9FA6-C77E-EC29-DF80-E1E45C356E00}"/>
              </a:ext>
            </a:extLst>
          </p:cNvPr>
          <p:cNvSpPr txBox="1"/>
          <p:nvPr/>
        </p:nvSpPr>
        <p:spPr>
          <a:xfrm>
            <a:off x="6096000" y="0"/>
            <a:ext cx="6096000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FEEDFORWARD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Estima aproximadamente qual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deve ser necessária para atingir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essa velocidade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driveFFVolts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driveFeedforward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desiredVelocity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TOTAL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Feedforward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previsão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        = correção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driveFFVolts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drivePIDVolts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Nunca permite passar de ±12V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C0AE6C-9CF5-3981-19E9-452B96B73CC5}"/>
              </a:ext>
            </a:extLst>
          </p:cNvPr>
          <p:cNvSpPr txBox="1"/>
          <p:nvPr/>
        </p:nvSpPr>
        <p:spPr>
          <a:xfrm>
            <a:off x="157316" y="261066"/>
            <a:ext cx="6096000" cy="659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- CONTROLE DE VELOCIDADE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que queremos que a roda alcance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REAL medida pelo motor simulado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driveVelocityRadPerSec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kWheelRadiusMeters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PID compara: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medida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     VS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desejada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 calcula uma correção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drivePIDVolts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desiredVelocity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1456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7FDCF7D-F88C-F846-CB2C-6FD7CACA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7B443A6-8BC1-4D7B-3666-3BC58AA977F7}"/>
              </a:ext>
            </a:extLst>
          </p:cNvPr>
          <p:cNvSpPr txBox="1"/>
          <p:nvPr/>
        </p:nvSpPr>
        <p:spPr>
          <a:xfrm>
            <a:off x="5810864" y="209397"/>
            <a:ext cx="6096000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que queremos atingir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DriveVelocitySetpoint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desiredVelocity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realmente medida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DriveVelocityMeasured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measuredVelocity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Erro entre desejado e medido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DriveVelocityError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measuredVelocity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Correção produzida pelo PID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DrivePIDVolts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drivePIDVolts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Previsão produzida pelo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Feedforward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DriveFFVolts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driveFFVolts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final enviada ao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DriveTotalVolts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Indica se chegamos próximo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 velocidade desejada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DriveAtSetpoint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atSetpoint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</p:spTree>
    <p:extLst>
      <p:ext uri="{BB962C8B-B14F-4D97-AF65-F5344CB8AC3E}">
        <p14:creationId xmlns:p14="http://schemas.microsoft.com/office/powerpoint/2010/main" val="723314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11FCEB2-F868-702C-35AC-42A7AFFD5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433" y="2059115"/>
            <a:ext cx="5372100" cy="27397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B67A624-64CD-A6E2-3E68-011982558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" y="480060"/>
            <a:ext cx="5268060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06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EF3877C-1B94-EBBA-2E6F-9867D5F06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13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EF1E85-B4B2-C81C-BC1E-19E514A2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BA8312-7CA7-FE0B-E7F3-B76392447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757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01C301-9C2C-D01D-145F-57ACDEAD6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2" y="719963"/>
            <a:ext cx="5191758" cy="522363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B6129E5F-E6A7-A7BF-CA87-A77259314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2213141"/>
            <a:ext cx="4644528" cy="225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49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BEF48D1-7FED-99D5-0EA0-F171FFD0F2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51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93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02C9826-0D16-EB87-D76B-A6F61CA70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916"/>
          <a:stretch>
            <a:fillRect/>
          </a:stretch>
        </p:blipFill>
        <p:spPr>
          <a:xfrm>
            <a:off x="0" y="0"/>
            <a:ext cx="7447280" cy="685799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C3729C0-759C-3C46-BC4B-1719241C5B2B}"/>
              </a:ext>
            </a:extLst>
          </p:cNvPr>
          <p:cNvSpPr txBox="1"/>
          <p:nvPr/>
        </p:nvSpPr>
        <p:spPr>
          <a:xfrm>
            <a:off x="7157884" y="557828"/>
            <a:ext cx="4965290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DIAGNÓSTICO - CHASSIS SPEEDS DESEJADO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Diagnostic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DesiredVx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Diagnostic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DesiredVy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Diagnostic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DesiredOmega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DIAGNÓSTICO - CHASSIS SPEEDS MEDIDO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Diagnostic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MeasuredVx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Diagnostic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MeasuredVy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Diagnostic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MeasuredOmega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93959B3-3110-9BC2-747A-02676A29E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500" y="3962400"/>
            <a:ext cx="5732622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08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FF5D0F-595C-475A-073C-01A353F75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15" b="1586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04071F94-171A-4485-533F-7266BA583C6C}"/>
              </a:ext>
            </a:extLst>
          </p:cNvPr>
          <p:cNvSpPr/>
          <p:nvPr/>
        </p:nvSpPr>
        <p:spPr>
          <a:xfrm rot="8624054">
            <a:off x="4060239" y="2164409"/>
            <a:ext cx="955040" cy="833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6011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</TotalTime>
  <Words>947</Words>
  <Application>Microsoft Office PowerPoint</Application>
  <PresentationFormat>Widescreen</PresentationFormat>
  <Paragraphs>205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Tema do Office 2013 - 2022</vt:lpstr>
      <vt:lpstr>PID do Steer</vt:lpstr>
      <vt:lpstr>Validar e ajustar o PID do Steer</vt:lpstr>
      <vt:lpstr>Nova Estrutura</vt:lpstr>
      <vt:lpstr>Constants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Testes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21</cp:revision>
  <dcterms:created xsi:type="dcterms:W3CDTF">2026-09-12T17:53:45Z</dcterms:created>
  <dcterms:modified xsi:type="dcterms:W3CDTF">2026-09-14T17:13:42Z</dcterms:modified>
</cp:coreProperties>
</file>