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5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5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0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2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67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4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5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5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1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6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9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8827F1-3359-44F6-9009-43AE2B17F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FAD67-5350-4773-886F-D6DD7E66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734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B69C2F-7F75-B42A-FB4E-C7EBB4403B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0019" r="-2" b="-2"/>
          <a:stretch>
            <a:fillRect/>
          </a:stretch>
        </p:blipFill>
        <p:spPr>
          <a:xfrm>
            <a:off x="20" y="-1"/>
            <a:ext cx="12189789" cy="6873457"/>
          </a:xfrm>
          <a:prstGeom prst="rect">
            <a:avLst/>
          </a:prstGeom>
          <a:ln w="12700">
            <a:noFill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"/>
            <a:ext cx="12192000" cy="6857996"/>
            <a:chOff x="572" y="-1"/>
            <a:chExt cx="12192000" cy="685799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9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62B14-483B-156E-9DED-BBB5BEB2F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429000"/>
            <a:ext cx="7151357" cy="2387600"/>
          </a:xfrm>
        </p:spPr>
        <p:txBody>
          <a:bodyPr anchor="t"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Malha Fechada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0C0D8D-4156-4E40-863A-DE07F9079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1040986"/>
            <a:ext cx="7151357" cy="2272483"/>
          </a:xfrm>
        </p:spPr>
        <p:txBody>
          <a:bodyPr anchor="b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Adaptar ModuleIO para malha fechada</a:t>
            </a:r>
          </a:p>
        </p:txBody>
      </p:sp>
    </p:spTree>
    <p:extLst>
      <p:ext uri="{BB962C8B-B14F-4D97-AF65-F5344CB8AC3E}">
        <p14:creationId xmlns:p14="http://schemas.microsoft.com/office/powerpoint/2010/main" val="713241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ED2E62-0DF2-26BD-094F-CBE1B39E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2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94C6EB-0BD0-4926-909B-CE0EFF459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7" y="-1"/>
            <a:ext cx="12195239" cy="6857996"/>
            <a:chOff x="1667" y="-1"/>
            <a:chExt cx="12195239" cy="685799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8D9AC5-1A8B-4F43-99E1-1D51CFFCF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49B524-B22D-40A1-81F7-459441A7E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906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8CCE87E-3564-469A-9A46-F794A0F94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4C96A98-5EF6-4542-9FA4-86B1D2651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3BF088B1-D6D6-4925-9B48-5098FF09D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6FA7DFD7-863A-4016-A231-DCB28B20D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E160A80-2551-438A-F4DD-D04200439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727"/>
            <a:ext cx="8648158" cy="1495887"/>
          </a:xfrm>
        </p:spPr>
        <p:txBody>
          <a:bodyPr>
            <a:normAutofit/>
          </a:bodyPr>
          <a:lstStyle/>
          <a:p>
            <a:r>
              <a:rPr lang="pt-BR" dirty="0"/>
              <a:t>Phoenix 6 em malha fechada.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68261F-41F6-0D2D-2A2C-860511DDA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8648158" cy="3430575"/>
          </a:xfrm>
        </p:spPr>
        <p:txBody>
          <a:bodyPr>
            <a:normAutofit/>
          </a:bodyPr>
          <a:lstStyle/>
          <a:p>
            <a:r>
              <a:rPr lang="pt-BR" dirty="0"/>
              <a:t>ETAPA 6.1 Adaptar </a:t>
            </a:r>
            <a:r>
              <a:rPr lang="pt-BR" dirty="0" err="1"/>
              <a:t>ModuleIO</a:t>
            </a:r>
            <a:r>
              <a:rPr lang="pt-BR" dirty="0"/>
              <a:t> para malha fechada</a:t>
            </a:r>
          </a:p>
          <a:p>
            <a:r>
              <a:rPr lang="pt-BR" dirty="0"/>
              <a:t>6.2 → adaptar </a:t>
            </a:r>
            <a:r>
              <a:rPr lang="pt-BR" dirty="0" err="1"/>
              <a:t>ModuleIOSim</a:t>
            </a:r>
            <a:r>
              <a:rPr lang="pt-BR" dirty="0"/>
              <a:t> </a:t>
            </a:r>
          </a:p>
          <a:p>
            <a:r>
              <a:rPr lang="pt-BR" dirty="0"/>
              <a:t>6.3 → tirar o PID de dentro do Module </a:t>
            </a:r>
          </a:p>
          <a:p>
            <a:r>
              <a:rPr lang="pt-BR" dirty="0"/>
              <a:t>6.4 → criar </a:t>
            </a:r>
            <a:r>
              <a:rPr lang="pt-BR" dirty="0" err="1"/>
              <a:t>ModuleIOTalonFX</a:t>
            </a:r>
            <a:r>
              <a:rPr lang="pt-BR" dirty="0"/>
              <a:t> </a:t>
            </a:r>
          </a:p>
          <a:p>
            <a:r>
              <a:rPr lang="pt-BR" dirty="0"/>
              <a:t>6.5 → </a:t>
            </a:r>
            <a:r>
              <a:rPr lang="pt-BR" dirty="0" err="1"/>
              <a:t>Kraken</a:t>
            </a:r>
            <a:r>
              <a:rPr lang="pt-BR" dirty="0"/>
              <a:t> + </a:t>
            </a:r>
            <a:r>
              <a:rPr lang="pt-BR" dirty="0" err="1"/>
              <a:t>CANcoder</a:t>
            </a:r>
            <a:r>
              <a:rPr lang="pt-BR" dirty="0"/>
              <a:t> + Phoenix Pro </a:t>
            </a:r>
          </a:p>
          <a:p>
            <a:r>
              <a:rPr lang="pt-BR" dirty="0"/>
              <a:t>6.6 → </a:t>
            </a:r>
            <a:r>
              <a:rPr lang="pt-BR" dirty="0" err="1"/>
              <a:t>FusedCANcoder</a:t>
            </a:r>
            <a:r>
              <a:rPr lang="pt-BR" dirty="0"/>
              <a:t> </a:t>
            </a:r>
          </a:p>
          <a:p>
            <a:r>
              <a:rPr lang="pt-BR" dirty="0"/>
              <a:t>6.7 → </a:t>
            </a:r>
            <a:r>
              <a:rPr lang="pt-BR" dirty="0" err="1"/>
              <a:t>Pigeon</a:t>
            </a:r>
            <a:r>
              <a:rPr lang="pt-BR" dirty="0"/>
              <a:t> 2 real</a:t>
            </a:r>
          </a:p>
        </p:txBody>
      </p:sp>
    </p:spTree>
    <p:extLst>
      <p:ext uri="{BB962C8B-B14F-4D97-AF65-F5344CB8AC3E}">
        <p14:creationId xmlns:p14="http://schemas.microsoft.com/office/powerpoint/2010/main" val="3654912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DD2F85-CAE1-CF23-8012-9C7C6144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4079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621AB13-FE45-7E5B-81B5-146CF6CD65A8}"/>
              </a:ext>
            </a:extLst>
          </p:cNvPr>
          <p:cNvSpPr txBox="1"/>
          <p:nvPr/>
        </p:nvSpPr>
        <p:spPr>
          <a:xfrm>
            <a:off x="6940793" y="0"/>
            <a:ext cx="4923503" cy="3550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MALHA FECHADA -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MALHA FECHADA -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FE0556-F35E-61E4-C900-C1A0D164B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306" y="4437616"/>
            <a:ext cx="252447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9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152039-6B90-E0C4-A211-79F522349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873766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D49B910-E42F-0A55-2982-333D3D01E7EB}"/>
              </a:ext>
            </a:extLst>
          </p:cNvPr>
          <p:cNvSpPr txBox="1"/>
          <p:nvPr/>
        </p:nvSpPr>
        <p:spPr>
          <a:xfrm>
            <a:off x="7087618" y="2749198"/>
            <a:ext cx="4770085" cy="1359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SimpleMotorFeedforward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1920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365CA5-E74C-96AB-D233-49960F46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4372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6791F29-E1BE-AD3F-74D2-98A17133AA82}"/>
              </a:ext>
            </a:extLst>
          </p:cNvPr>
          <p:cNvSpPr txBox="1"/>
          <p:nvPr/>
        </p:nvSpPr>
        <p:spPr>
          <a:xfrm>
            <a:off x="6688564" y="744453"/>
            <a:ext cx="5021656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CONTROLE FECHADO -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drivePID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SimpleMotorFeedforward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driveFeedforward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SimpleMotorFeedforward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kDriveKv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CONTROLE FECHADO -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</p:spTree>
    <p:extLst>
      <p:ext uri="{BB962C8B-B14F-4D97-AF65-F5344CB8AC3E}">
        <p14:creationId xmlns:p14="http://schemas.microsoft.com/office/powerpoint/2010/main" val="144870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1CB3D9B-2F51-5012-2E8C-8EF6BAFCD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10" y="0"/>
            <a:ext cx="698169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FB07302-C00C-2702-4626-A4FCC833D80B}"/>
              </a:ext>
            </a:extLst>
          </p:cNvPr>
          <p:cNvSpPr txBox="1"/>
          <p:nvPr/>
        </p:nvSpPr>
        <p:spPr>
          <a:xfrm>
            <a:off x="7113300" y="757102"/>
            <a:ext cx="507870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CONSTRUTOR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ModuleIOSim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Tolerância de velocidade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setTolerance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trabalha com ângulos circulares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Exemplo: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+179° e -179° estão muito próximos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enableContinuousInput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Tolerância de aproximadamente 1 grau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setTolerance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997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1C39D9-EE72-DEA2-EB35-2CC053948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47945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B064D1A-E85C-F988-018C-AE04FFBB58D0}"/>
              </a:ext>
            </a:extLst>
          </p:cNvPr>
          <p:cNvSpPr txBox="1"/>
          <p:nvPr/>
        </p:nvSpPr>
        <p:spPr>
          <a:xfrm>
            <a:off x="6717675" y="264848"/>
            <a:ext cx="6100916" cy="659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MALHA FECHADA -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ATUAL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 × raio da roda =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measuredVelocityMetersPerSecond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getAngularVelocityRadPerSec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kWheelRadiusMeters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measuredVelocityMetersPerSecond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dirty="0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32D7D0AF-BD5C-3B02-BA52-91584C299E71}"/>
              </a:ext>
            </a:extLst>
          </p:cNvPr>
          <p:cNvSpPr/>
          <p:nvPr/>
        </p:nvSpPr>
        <p:spPr>
          <a:xfrm>
            <a:off x="10259367" y="6260124"/>
            <a:ext cx="1647929" cy="5777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Continua</a:t>
            </a:r>
          </a:p>
        </p:txBody>
      </p:sp>
    </p:spTree>
    <p:extLst>
      <p:ext uri="{BB962C8B-B14F-4D97-AF65-F5344CB8AC3E}">
        <p14:creationId xmlns:p14="http://schemas.microsoft.com/office/powerpoint/2010/main" val="1454237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4760AFC-7322-DACF-3A2A-CB3AB80FB516}"/>
              </a:ext>
            </a:extLst>
          </p:cNvPr>
          <p:cNvSpPr txBox="1"/>
          <p:nvPr/>
        </p:nvSpPr>
        <p:spPr>
          <a:xfrm>
            <a:off x="6342293" y="23057"/>
            <a:ext cx="6100916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getAngularPositionRad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DESEJADO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Usa nosso método já existente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3831C6-FC0D-0319-9565-2D86FC4513B2}"/>
              </a:ext>
            </a:extLst>
          </p:cNvPr>
          <p:cNvSpPr txBox="1"/>
          <p:nvPr/>
        </p:nvSpPr>
        <p:spPr>
          <a:xfrm>
            <a:off x="237921" y="160775"/>
            <a:ext cx="6104372" cy="6775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FEEDFORWARD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feedforwardVolts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driveFeedforward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FINAL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pidVolts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feedforwardVolts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Usa nosso método já existente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MALHA FECHADA -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7765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20FAA2-966A-200A-87FC-B2C518E2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14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40892-11CD-C088-4FD2-DAC4E5E20B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Simplificar Module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A7D883-0833-1F96-FA4A-B65ABFC3B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pt-BR" dirty="0"/>
              <a:t>Agora acontece uma mudança importante na arquitetura: o Module.java </a:t>
            </a:r>
            <a:r>
              <a:rPr lang="pt-BR" b="1" dirty="0"/>
              <a:t>não vai mais calcular PID, </a:t>
            </a:r>
            <a:r>
              <a:rPr lang="pt-BR" b="1" dirty="0" err="1"/>
              <a:t>Feedforward</a:t>
            </a:r>
            <a:r>
              <a:rPr lang="pt-BR" b="1" dirty="0"/>
              <a:t> nem tensão</a:t>
            </a:r>
            <a:r>
              <a:rPr lang="pt-BR" dirty="0"/>
              <a:t>. Ele apenas decide </a:t>
            </a:r>
            <a:r>
              <a:rPr lang="pt-BR" b="1" dirty="0"/>
              <a:t>qual velocidade e qual ângulo queremos</a:t>
            </a:r>
            <a:r>
              <a:rPr lang="pt-BR" dirty="0"/>
              <a:t>, e entrega isso ao </a:t>
            </a:r>
            <a:r>
              <a:rPr lang="pt-BR" dirty="0" err="1"/>
              <a:t>ModuleIO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384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D0410D3-7667-4A2C-B87F-213DB57EE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80" y="1368691"/>
            <a:ext cx="2886478" cy="425826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D81219F-ADC3-1B87-6382-3C8B6FB8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481" y="1347497"/>
            <a:ext cx="3848637" cy="4163006"/>
          </a:xfrm>
          <a:prstGeom prst="rect">
            <a:avLst/>
          </a:prstGeom>
        </p:spPr>
      </p:pic>
      <p:sp>
        <p:nvSpPr>
          <p:cNvPr id="6" name="Seta: da Esquerda para a Direita 5">
            <a:extLst>
              <a:ext uri="{FF2B5EF4-FFF2-40B4-BE49-F238E27FC236}">
                <a16:creationId xmlns:a16="http://schemas.microsoft.com/office/drawing/2014/main" id="{F47B7006-1B76-2C11-E74C-AA70621147AE}"/>
              </a:ext>
            </a:extLst>
          </p:cNvPr>
          <p:cNvSpPr/>
          <p:nvPr/>
        </p:nvSpPr>
        <p:spPr>
          <a:xfrm>
            <a:off x="4808324" y="3057832"/>
            <a:ext cx="1917290" cy="126836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047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DC2330-1267-932A-186E-D3D7580E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1515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CDC19C90-C874-FA53-87CA-35CE329CFB4E}"/>
              </a:ext>
            </a:extLst>
          </p:cNvPr>
          <p:cNvSpPr/>
          <p:nvPr/>
        </p:nvSpPr>
        <p:spPr>
          <a:xfrm flipH="1">
            <a:off x="7492180" y="3308725"/>
            <a:ext cx="1800660" cy="1387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Remover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360E475-AFE0-7B86-A1FF-5C03279431A2}"/>
              </a:ext>
            </a:extLst>
          </p:cNvPr>
          <p:cNvSpPr/>
          <p:nvPr/>
        </p:nvSpPr>
        <p:spPr>
          <a:xfrm rot="1214269" flipH="1">
            <a:off x="7231624" y="4964705"/>
            <a:ext cx="1800660" cy="1387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Remover</a:t>
            </a:r>
          </a:p>
        </p:txBody>
      </p:sp>
    </p:spTree>
    <p:extLst>
      <p:ext uri="{BB962C8B-B14F-4D97-AF65-F5344CB8AC3E}">
        <p14:creationId xmlns:p14="http://schemas.microsoft.com/office/powerpoint/2010/main" val="723066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C55CD3F-F139-B084-2B4B-5B128D86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pt-BR" dirty="0"/>
              <a:t>Remover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665511-8844-2FC7-7DBC-43F231F7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pt-BR" sz="1100"/>
              <a:t>Remover o </a:t>
            </a:r>
            <a:r>
              <a:rPr lang="pt-BR" sz="1100" err="1"/>
              <a:t>import</a:t>
            </a:r>
            <a:r>
              <a:rPr lang="pt-BR" sz="1100"/>
              <a:t> de </a:t>
            </a:r>
            <a:r>
              <a:rPr lang="pt-BR" sz="1100" err="1"/>
              <a:t>kMaxLinearSpeed</a:t>
            </a:r>
            <a:r>
              <a:rPr lang="pt-BR" sz="1100"/>
              <a:t>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o </a:t>
            </a:r>
            <a:r>
              <a:rPr lang="pt-BR" sz="1100" err="1"/>
              <a:t>import</a:t>
            </a:r>
            <a:r>
              <a:rPr lang="pt-BR" sz="1100"/>
              <a:t> de </a:t>
            </a:r>
            <a:r>
              <a:rPr lang="pt-BR" sz="1100" err="1"/>
              <a:t>MathUtil</a:t>
            </a:r>
            <a:r>
              <a:rPr lang="pt-BR" sz="1100"/>
              <a:t>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o </a:t>
            </a:r>
            <a:r>
              <a:rPr lang="pt-BR" sz="1100" err="1"/>
              <a:t>PIDController</a:t>
            </a:r>
            <a:r>
              <a:rPr lang="pt-BR" sz="1100"/>
              <a:t> </a:t>
            </a:r>
            <a:r>
              <a:rPr lang="pt-BR" sz="1100" err="1"/>
              <a:t>turnPID</a:t>
            </a:r>
            <a:r>
              <a:rPr lang="pt-BR" sz="1100"/>
              <a:t>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qualquer </a:t>
            </a:r>
            <a:r>
              <a:rPr lang="pt-BR" sz="1100" err="1"/>
              <a:t>drivePID</a:t>
            </a:r>
            <a:r>
              <a:rPr lang="pt-BR" sz="1100"/>
              <a:t>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qualquer </a:t>
            </a:r>
            <a:r>
              <a:rPr lang="pt-BR" sz="1100" err="1"/>
              <a:t>driveFeedforward</a:t>
            </a:r>
            <a:r>
              <a:rPr lang="pt-BR" sz="1100"/>
              <a:t>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do construtor </a:t>
            </a:r>
            <a:r>
              <a:rPr lang="pt-BR" sz="1100" err="1"/>
              <a:t>turnPID.enableContinuousInput</a:t>
            </a:r>
            <a:r>
              <a:rPr lang="pt-BR" sz="1100"/>
              <a:t>(...), </a:t>
            </a:r>
            <a:r>
              <a:rPr lang="pt-BR" sz="1100" err="1"/>
              <a:t>turnPID.setTolerance</a:t>
            </a:r>
            <a:r>
              <a:rPr lang="pt-BR" sz="1100"/>
              <a:t>(...) e </a:t>
            </a:r>
            <a:r>
              <a:rPr lang="pt-BR" sz="1100" err="1"/>
              <a:t>drivePID.setTolerance</a:t>
            </a:r>
            <a:r>
              <a:rPr lang="pt-BR" sz="1100"/>
              <a:t>(...).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de </a:t>
            </a:r>
            <a:r>
              <a:rPr lang="pt-BR" sz="1100" err="1"/>
              <a:t>setDesiredState</a:t>
            </a:r>
            <a:r>
              <a:rPr lang="pt-BR" sz="1100"/>
              <a:t>() os cálculos de </a:t>
            </a:r>
            <a:r>
              <a:rPr lang="pt-BR" sz="1100" err="1"/>
              <a:t>drivePIDVolts</a:t>
            </a:r>
            <a:r>
              <a:rPr lang="pt-BR" sz="1100"/>
              <a:t>, </a:t>
            </a:r>
            <a:r>
              <a:rPr lang="pt-BR" sz="1100" err="1"/>
              <a:t>driveFFVolts</a:t>
            </a:r>
            <a:r>
              <a:rPr lang="pt-BR" sz="1100"/>
              <a:t>, </a:t>
            </a:r>
            <a:r>
              <a:rPr lang="pt-BR" sz="1100" err="1"/>
              <a:t>driveVolts</a:t>
            </a:r>
            <a:r>
              <a:rPr lang="pt-BR" sz="1100"/>
              <a:t> e </a:t>
            </a:r>
            <a:r>
              <a:rPr lang="pt-BR" sz="1100" err="1"/>
              <a:t>turnVolts</a:t>
            </a:r>
            <a:r>
              <a:rPr lang="pt-BR" sz="1100"/>
              <a:t>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as chamadas </a:t>
            </a:r>
            <a:r>
              <a:rPr lang="pt-BR" sz="1100" err="1"/>
              <a:t>io.setDriveVoltage</a:t>
            </a:r>
            <a:r>
              <a:rPr lang="pt-BR" sz="1100"/>
              <a:t>(</a:t>
            </a:r>
            <a:r>
              <a:rPr lang="pt-BR" sz="1100" err="1"/>
              <a:t>driveVolts</a:t>
            </a:r>
            <a:r>
              <a:rPr lang="pt-BR" sz="1100"/>
              <a:t>) e </a:t>
            </a:r>
            <a:r>
              <a:rPr lang="pt-BR" sz="1100" err="1"/>
              <a:t>io.setTurnVoltage</a:t>
            </a:r>
            <a:r>
              <a:rPr lang="pt-BR" sz="1100"/>
              <a:t>(</a:t>
            </a:r>
            <a:r>
              <a:rPr lang="pt-BR" sz="1100" err="1"/>
              <a:t>turnVolts</a:t>
            </a:r>
            <a:r>
              <a:rPr lang="pt-BR" sz="1100"/>
              <a:t>) do controle normal. </a:t>
            </a:r>
          </a:p>
          <a:p>
            <a:pPr lvl="0">
              <a:lnSpc>
                <a:spcPct val="100000"/>
              </a:lnSpc>
            </a:pPr>
            <a:r>
              <a:rPr lang="pt-BR" sz="1100"/>
              <a:t>Remover os logs </a:t>
            </a:r>
            <a:r>
              <a:rPr lang="pt-BR" sz="1100" err="1"/>
              <a:t>DrivePIDVolts</a:t>
            </a:r>
            <a:r>
              <a:rPr lang="pt-BR" sz="1100"/>
              <a:t>, </a:t>
            </a:r>
            <a:r>
              <a:rPr lang="pt-BR" sz="1100" err="1"/>
              <a:t>DriveFFVolts</a:t>
            </a:r>
            <a:r>
              <a:rPr lang="pt-BR" sz="1100"/>
              <a:t>, </a:t>
            </a:r>
            <a:r>
              <a:rPr lang="pt-BR" sz="1100" err="1"/>
              <a:t>DriveTotalVolts</a:t>
            </a:r>
            <a:r>
              <a:rPr lang="pt-BR" sz="1100"/>
              <a:t>, </a:t>
            </a:r>
            <a:r>
              <a:rPr lang="pt-BR" sz="1100" err="1"/>
              <a:t>DriveAtSetpoint</a:t>
            </a:r>
            <a:r>
              <a:rPr lang="pt-BR" sz="1100"/>
              <a:t>, </a:t>
            </a:r>
            <a:r>
              <a:rPr lang="pt-BR" sz="1100" err="1"/>
              <a:t>TurnPIDOutputVolts</a:t>
            </a:r>
            <a:r>
              <a:rPr lang="pt-BR" sz="1100"/>
              <a:t> e </a:t>
            </a:r>
            <a:r>
              <a:rPr lang="pt-BR" sz="1100" err="1"/>
              <a:t>TurnAtSetpoint</a:t>
            </a:r>
            <a:r>
              <a:rPr lang="pt-BR" sz="1100"/>
              <a:t>.</a:t>
            </a:r>
          </a:p>
          <a:p>
            <a:pPr>
              <a:lnSpc>
                <a:spcPct val="100000"/>
              </a:lnSpc>
            </a:pPr>
            <a:endParaRPr lang="pt-BR" sz="11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FC015297-7F66-FCE7-6877-8313A8E25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270" y="868081"/>
            <a:ext cx="4378147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91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B0BEEE3-3641-2E70-F547-B4455E61E91E}"/>
              </a:ext>
            </a:extLst>
          </p:cNvPr>
          <p:cNvSpPr txBox="1"/>
          <p:nvPr/>
        </p:nvSpPr>
        <p:spPr>
          <a:xfrm>
            <a:off x="248265" y="466522"/>
            <a:ext cx="6100916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ESTADO DESEJADO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OTIMIZAÇÃO DO ESTADO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optimize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7E9880-7188-7BAB-37F1-4F3328436AF3}"/>
              </a:ext>
            </a:extLst>
          </p:cNvPr>
          <p:cNvSpPr txBox="1"/>
          <p:nvPr/>
        </p:nvSpPr>
        <p:spPr>
          <a:xfrm>
            <a:off x="5842819" y="466522"/>
            <a:ext cx="6100916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COMPENSAÇÃO POR COSSENO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cosineScale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angleError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cosineScale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DESEJADA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measuredVelocity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driveVelocityRadPerSec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kWheelRadiusMeters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212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BDA6CE7-027E-4255-2A18-86ECEDDFAED8}"/>
              </a:ext>
            </a:extLst>
          </p:cNvPr>
          <p:cNvSpPr txBox="1"/>
          <p:nvPr/>
        </p:nvSpPr>
        <p:spPr>
          <a:xfrm>
            <a:off x="0" y="639097"/>
            <a:ext cx="6100916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DESEJADO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MALHA FECHADA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MALHA FECHADA -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Module informa: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"Quero esta velocidade"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Quem controla como atingir essa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é o IO.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desiredVelocity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MALHA FECHADA -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Module informa: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"Quero este ângulo"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Quem controla como atingir esse ângulo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é o IO.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desiredAngle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14CED4-D075-024C-DE6C-38C0B8D9CD69}"/>
              </a:ext>
            </a:extLst>
          </p:cNvPr>
          <p:cNvSpPr txBox="1"/>
          <p:nvPr/>
        </p:nvSpPr>
        <p:spPr>
          <a:xfrm>
            <a:off x="5744496" y="639097"/>
            <a:ext cx="6100916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LOGS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DesiredState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optimizedState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CosineScale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cosineScale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LOGS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DriveVelocitySetpoint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desiredVelocity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DriveVelocityMeasured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measuredVelocity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DriveVelocityError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desiredVelocity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measuredVelocity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</p:spTree>
    <p:extLst>
      <p:ext uri="{BB962C8B-B14F-4D97-AF65-F5344CB8AC3E}">
        <p14:creationId xmlns:p14="http://schemas.microsoft.com/office/powerpoint/2010/main" val="1171538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BCBC624-C1E3-A5B5-0F58-1D080A779A1F}"/>
              </a:ext>
            </a:extLst>
          </p:cNvPr>
          <p:cNvSpPr txBox="1"/>
          <p:nvPr/>
        </p:nvSpPr>
        <p:spPr>
          <a:xfrm>
            <a:off x="661220" y="749917"/>
            <a:ext cx="6100916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LOGS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TurnPositionSetpointRad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desiredAngle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TurnPositionMeasuredRad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TurnErrorRad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angleError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3A6237-9C0C-56FD-6862-00D44C9E964C}"/>
              </a:ext>
            </a:extLst>
          </p:cNvPr>
          <p:cNvSpPr txBox="1"/>
          <p:nvPr/>
        </p:nvSpPr>
        <p:spPr>
          <a:xfrm>
            <a:off x="6096000" y="2701016"/>
            <a:ext cx="2339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Dentro do material tem uma pasta 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Já com a classe pronta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B1105D-BBB6-161A-0942-0AA523E96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530" y="200361"/>
            <a:ext cx="2791215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39152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1251</Words>
  <Application>Microsoft Office PowerPoint</Application>
  <PresentationFormat>Widescreen</PresentationFormat>
  <Paragraphs>327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Avenir Next LT Pro</vt:lpstr>
      <vt:lpstr>Consolas</vt:lpstr>
      <vt:lpstr>Footlight MT Light</vt:lpstr>
      <vt:lpstr>ArchVTI</vt:lpstr>
      <vt:lpstr>Malha Fechada</vt:lpstr>
      <vt:lpstr>Apresentação do PowerPoint</vt:lpstr>
      <vt:lpstr>Phoenix 6 em malha fechada.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Simplificar Module</vt:lpstr>
      <vt:lpstr>Apresentação do PowerPoint</vt:lpstr>
      <vt:lpstr>Apresentação do PowerPoint</vt:lpstr>
      <vt:lpstr>Remover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8</cp:revision>
  <dcterms:created xsi:type="dcterms:W3CDTF">2026-09-14T18:05:44Z</dcterms:created>
  <dcterms:modified xsi:type="dcterms:W3CDTF">2026-09-15T17:19:18Z</dcterms:modified>
</cp:coreProperties>
</file>